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2000"/>
  <p:notesSz cx="6858000" cy="9144000"/>
  <p:embeddedFontLst>
    <p:embeddedFont>
      <p:font typeface="Inter SemiBold"/>
      <p:regular r:id="rId15"/>
      <p:bold r:id="rId16"/>
      <p:italic r:id="rId17"/>
      <p:boldItalic r:id="rId18"/>
    </p:embeddedFont>
    <p:embeddedFont>
      <p:font typeface="Inter"/>
      <p:regular r:id="rId19"/>
      <p:bold r:id="rId20"/>
      <p:italic r:id="rId21"/>
      <p:boldItalic r:id="rId22"/>
    </p:embeddedFont>
    <p:embeddedFont>
      <p:font typeface="Poppins"/>
      <p:regular r:id="rId23"/>
      <p:bold r:id="rId24"/>
      <p:italic r:id="rId25"/>
      <p:boldItalic r:id="rId26"/>
    </p:embeddedFont>
    <p:embeddedFont>
      <p:font typeface="Inter ExtraBold"/>
      <p:bold r:id="rId27"/>
      <p:boldItalic r:id="rId28"/>
    </p:embeddedFont>
    <p:embeddedFont>
      <p:font typeface="Poppins ExtraBold"/>
      <p:bold r:id="rId29"/>
      <p:boldItalic r:id="rId30"/>
    </p:embeddedFont>
    <p:embeddedFont>
      <p:font typeface="Inter Medium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04862A-6A3A-40EB-9C99-39D189B83771}">
  <a:tblStyle styleId="{6904862A-6A3A-40EB-9C99-39D189B8377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Poppins-bold.fntdata"/><Relationship Id="rId23" Type="http://schemas.openxmlformats.org/officeDocument/2006/relationships/font" Target="fonts/Poppins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oppins-boldItalic.fntdata"/><Relationship Id="rId25" Type="http://schemas.openxmlformats.org/officeDocument/2006/relationships/font" Target="fonts/Poppins-italic.fntdata"/><Relationship Id="rId28" Type="http://schemas.openxmlformats.org/officeDocument/2006/relationships/font" Target="fonts/InterExtraBold-boldItalic.fntdata"/><Relationship Id="rId27" Type="http://schemas.openxmlformats.org/officeDocument/2006/relationships/font" Target="fonts/InterExtra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ExtraBo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Medium-regular.fntdata"/><Relationship Id="rId30" Type="http://schemas.openxmlformats.org/officeDocument/2006/relationships/font" Target="fonts/PoppinsExtraBold-boldItalic.fntdata"/><Relationship Id="rId11" Type="http://schemas.openxmlformats.org/officeDocument/2006/relationships/slide" Target="slides/slide5.xml"/><Relationship Id="rId33" Type="http://schemas.openxmlformats.org/officeDocument/2006/relationships/font" Target="fonts/InterMedium-italic.fntdata"/><Relationship Id="rId10" Type="http://schemas.openxmlformats.org/officeDocument/2006/relationships/slide" Target="slides/slide4.xml"/><Relationship Id="rId32" Type="http://schemas.openxmlformats.org/officeDocument/2006/relationships/font" Target="fonts/InterMedium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InterMedium-boldItalic.fntdata"/><Relationship Id="rId15" Type="http://schemas.openxmlformats.org/officeDocument/2006/relationships/font" Target="fonts/InterSemiBold-regular.fntdata"/><Relationship Id="rId14" Type="http://schemas.openxmlformats.org/officeDocument/2006/relationships/slide" Target="slides/slide8.xml"/><Relationship Id="rId17" Type="http://schemas.openxmlformats.org/officeDocument/2006/relationships/font" Target="fonts/InterSemiBold-italic.fntdata"/><Relationship Id="rId16" Type="http://schemas.openxmlformats.org/officeDocument/2006/relationships/font" Target="fonts/InterSemiBold-bold.fntdata"/><Relationship Id="rId19" Type="http://schemas.openxmlformats.org/officeDocument/2006/relationships/font" Target="fonts/Inter-regular.fntdata"/><Relationship Id="rId18" Type="http://schemas.openxmlformats.org/officeDocument/2006/relationships/font" Target="fonts/InterSemiBold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20" Type="http://schemas.openxmlformats.org/officeDocument/2006/relationships/image" Target="../media/image15.png"/><Relationship Id="rId11" Type="http://schemas.openxmlformats.org/officeDocument/2006/relationships/image" Target="../media/image25.png"/><Relationship Id="rId10" Type="http://schemas.openxmlformats.org/officeDocument/2006/relationships/image" Target="../media/image16.png"/><Relationship Id="rId13" Type="http://schemas.openxmlformats.org/officeDocument/2006/relationships/image" Target="../media/image11.png"/><Relationship Id="rId1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3.png"/><Relationship Id="rId15" Type="http://schemas.openxmlformats.org/officeDocument/2006/relationships/image" Target="../media/image19.png"/><Relationship Id="rId14" Type="http://schemas.openxmlformats.org/officeDocument/2006/relationships/image" Target="../media/image18.png"/><Relationship Id="rId17" Type="http://schemas.openxmlformats.org/officeDocument/2006/relationships/image" Target="../media/image13.png"/><Relationship Id="rId16" Type="http://schemas.openxmlformats.org/officeDocument/2006/relationships/image" Target="../media/image7.png"/><Relationship Id="rId5" Type="http://schemas.openxmlformats.org/officeDocument/2006/relationships/image" Target="../media/image1.png"/><Relationship Id="rId19" Type="http://schemas.openxmlformats.org/officeDocument/2006/relationships/image" Target="../media/image6.png"/><Relationship Id="rId6" Type="http://schemas.openxmlformats.org/officeDocument/2006/relationships/image" Target="../media/image22.png"/><Relationship Id="rId18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33.png"/><Relationship Id="rId10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9" Type="http://schemas.openxmlformats.org/officeDocument/2006/relationships/image" Target="../media/image26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40" Type="http://schemas.openxmlformats.org/officeDocument/2006/relationships/image" Target="../media/image68.png"/><Relationship Id="rId20" Type="http://schemas.openxmlformats.org/officeDocument/2006/relationships/image" Target="../media/image51.png"/><Relationship Id="rId42" Type="http://schemas.openxmlformats.org/officeDocument/2006/relationships/image" Target="../media/image59.png"/><Relationship Id="rId41" Type="http://schemas.openxmlformats.org/officeDocument/2006/relationships/image" Target="../media/image70.png"/><Relationship Id="rId22" Type="http://schemas.openxmlformats.org/officeDocument/2006/relationships/image" Target="../media/image43.png"/><Relationship Id="rId44" Type="http://schemas.openxmlformats.org/officeDocument/2006/relationships/image" Target="../media/image76.png"/><Relationship Id="rId21" Type="http://schemas.openxmlformats.org/officeDocument/2006/relationships/image" Target="../media/image46.png"/><Relationship Id="rId43" Type="http://schemas.openxmlformats.org/officeDocument/2006/relationships/image" Target="../media/image74.png"/><Relationship Id="rId24" Type="http://schemas.openxmlformats.org/officeDocument/2006/relationships/image" Target="../media/image37.png"/><Relationship Id="rId23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4.png"/><Relationship Id="rId9" Type="http://schemas.openxmlformats.org/officeDocument/2006/relationships/image" Target="../media/image30.png"/><Relationship Id="rId26" Type="http://schemas.openxmlformats.org/officeDocument/2006/relationships/image" Target="../media/image47.png"/><Relationship Id="rId25" Type="http://schemas.openxmlformats.org/officeDocument/2006/relationships/image" Target="../media/image44.png"/><Relationship Id="rId28" Type="http://schemas.openxmlformats.org/officeDocument/2006/relationships/image" Target="../media/image118.png"/><Relationship Id="rId27" Type="http://schemas.openxmlformats.org/officeDocument/2006/relationships/image" Target="../media/image48.png"/><Relationship Id="rId5" Type="http://schemas.openxmlformats.org/officeDocument/2006/relationships/image" Target="../media/image40.png"/><Relationship Id="rId6" Type="http://schemas.openxmlformats.org/officeDocument/2006/relationships/image" Target="../media/image31.png"/><Relationship Id="rId29" Type="http://schemas.openxmlformats.org/officeDocument/2006/relationships/image" Target="../media/image45.png"/><Relationship Id="rId7" Type="http://schemas.openxmlformats.org/officeDocument/2006/relationships/image" Target="../media/image27.png"/><Relationship Id="rId8" Type="http://schemas.openxmlformats.org/officeDocument/2006/relationships/image" Target="../media/image34.png"/><Relationship Id="rId31" Type="http://schemas.openxmlformats.org/officeDocument/2006/relationships/image" Target="../media/image61.png"/><Relationship Id="rId30" Type="http://schemas.openxmlformats.org/officeDocument/2006/relationships/image" Target="../media/image54.png"/><Relationship Id="rId11" Type="http://schemas.openxmlformats.org/officeDocument/2006/relationships/image" Target="../media/image41.png"/><Relationship Id="rId33" Type="http://schemas.openxmlformats.org/officeDocument/2006/relationships/image" Target="../media/image71.png"/><Relationship Id="rId10" Type="http://schemas.openxmlformats.org/officeDocument/2006/relationships/image" Target="../media/image29.png"/><Relationship Id="rId32" Type="http://schemas.openxmlformats.org/officeDocument/2006/relationships/image" Target="../media/image56.png"/><Relationship Id="rId13" Type="http://schemas.openxmlformats.org/officeDocument/2006/relationships/image" Target="../media/image50.png"/><Relationship Id="rId35" Type="http://schemas.openxmlformats.org/officeDocument/2006/relationships/image" Target="../media/image53.png"/><Relationship Id="rId12" Type="http://schemas.openxmlformats.org/officeDocument/2006/relationships/image" Target="../media/image32.png"/><Relationship Id="rId34" Type="http://schemas.openxmlformats.org/officeDocument/2006/relationships/image" Target="../media/image63.png"/><Relationship Id="rId15" Type="http://schemas.openxmlformats.org/officeDocument/2006/relationships/image" Target="../media/image42.png"/><Relationship Id="rId37" Type="http://schemas.openxmlformats.org/officeDocument/2006/relationships/image" Target="../media/image55.png"/><Relationship Id="rId14" Type="http://schemas.openxmlformats.org/officeDocument/2006/relationships/image" Target="../media/image36.png"/><Relationship Id="rId36" Type="http://schemas.openxmlformats.org/officeDocument/2006/relationships/image" Target="../media/image58.png"/><Relationship Id="rId17" Type="http://schemas.openxmlformats.org/officeDocument/2006/relationships/image" Target="../media/image35.png"/><Relationship Id="rId39" Type="http://schemas.openxmlformats.org/officeDocument/2006/relationships/image" Target="../media/image77.png"/><Relationship Id="rId16" Type="http://schemas.openxmlformats.org/officeDocument/2006/relationships/image" Target="../media/image49.png"/><Relationship Id="rId38" Type="http://schemas.openxmlformats.org/officeDocument/2006/relationships/image" Target="../media/image82.png"/><Relationship Id="rId19" Type="http://schemas.openxmlformats.org/officeDocument/2006/relationships/image" Target="../media/image52.png"/><Relationship Id="rId18" Type="http://schemas.openxmlformats.org/officeDocument/2006/relationships/image" Target="../media/image3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png"/><Relationship Id="rId4" Type="http://schemas.openxmlformats.org/officeDocument/2006/relationships/image" Target="../media/image73.png"/><Relationship Id="rId9" Type="http://schemas.openxmlformats.org/officeDocument/2006/relationships/image" Target="../media/image62.png"/><Relationship Id="rId5" Type="http://schemas.openxmlformats.org/officeDocument/2006/relationships/image" Target="../media/image57.png"/><Relationship Id="rId6" Type="http://schemas.openxmlformats.org/officeDocument/2006/relationships/image" Target="../media/image64.png"/><Relationship Id="rId7" Type="http://schemas.openxmlformats.org/officeDocument/2006/relationships/image" Target="../media/image72.png"/><Relationship Id="rId8" Type="http://schemas.openxmlformats.org/officeDocument/2006/relationships/image" Target="../media/image60.png"/><Relationship Id="rId11" Type="http://schemas.openxmlformats.org/officeDocument/2006/relationships/image" Target="../media/image80.png"/><Relationship Id="rId10" Type="http://schemas.openxmlformats.org/officeDocument/2006/relationships/image" Target="../media/image78.png"/><Relationship Id="rId13" Type="http://schemas.openxmlformats.org/officeDocument/2006/relationships/image" Target="../media/image66.png"/><Relationship Id="rId12" Type="http://schemas.openxmlformats.org/officeDocument/2006/relationships/image" Target="../media/image65.png"/><Relationship Id="rId15" Type="http://schemas.openxmlformats.org/officeDocument/2006/relationships/image" Target="../media/image67.png"/><Relationship Id="rId14" Type="http://schemas.openxmlformats.org/officeDocument/2006/relationships/image" Target="../media/image84.png"/><Relationship Id="rId17" Type="http://schemas.openxmlformats.org/officeDocument/2006/relationships/image" Target="../media/image92.png"/><Relationship Id="rId16" Type="http://schemas.openxmlformats.org/officeDocument/2006/relationships/image" Target="../media/image6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75.png"/><Relationship Id="rId9" Type="http://schemas.openxmlformats.org/officeDocument/2006/relationships/image" Target="../media/image96.png"/><Relationship Id="rId5" Type="http://schemas.openxmlformats.org/officeDocument/2006/relationships/image" Target="../media/image87.png"/><Relationship Id="rId6" Type="http://schemas.openxmlformats.org/officeDocument/2006/relationships/image" Target="../media/image89.png"/><Relationship Id="rId7" Type="http://schemas.openxmlformats.org/officeDocument/2006/relationships/image" Target="../media/image85.png"/><Relationship Id="rId8" Type="http://schemas.openxmlformats.org/officeDocument/2006/relationships/image" Target="../media/image81.png"/><Relationship Id="rId11" Type="http://schemas.openxmlformats.org/officeDocument/2006/relationships/image" Target="../media/image94.png"/><Relationship Id="rId10" Type="http://schemas.openxmlformats.org/officeDocument/2006/relationships/image" Target="../media/image79.png"/><Relationship Id="rId12" Type="http://schemas.openxmlformats.org/officeDocument/2006/relationships/image" Target="../media/image9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99.png"/><Relationship Id="rId9" Type="http://schemas.openxmlformats.org/officeDocument/2006/relationships/image" Target="../media/image111.png"/><Relationship Id="rId5" Type="http://schemas.openxmlformats.org/officeDocument/2006/relationships/image" Target="../media/image83.png"/><Relationship Id="rId6" Type="http://schemas.openxmlformats.org/officeDocument/2006/relationships/image" Target="../media/image88.png"/><Relationship Id="rId7" Type="http://schemas.openxmlformats.org/officeDocument/2006/relationships/image" Target="../media/image86.png"/><Relationship Id="rId8" Type="http://schemas.openxmlformats.org/officeDocument/2006/relationships/image" Target="../media/image113.png"/><Relationship Id="rId11" Type="http://schemas.openxmlformats.org/officeDocument/2006/relationships/image" Target="../media/image93.png"/><Relationship Id="rId10" Type="http://schemas.openxmlformats.org/officeDocument/2006/relationships/image" Target="../media/image90.png"/><Relationship Id="rId13" Type="http://schemas.openxmlformats.org/officeDocument/2006/relationships/image" Target="../media/image91.png"/><Relationship Id="rId12" Type="http://schemas.openxmlformats.org/officeDocument/2006/relationships/image" Target="../media/image9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98.png"/><Relationship Id="rId9" Type="http://schemas.openxmlformats.org/officeDocument/2006/relationships/image" Target="../media/image104.png"/><Relationship Id="rId5" Type="http://schemas.openxmlformats.org/officeDocument/2006/relationships/image" Target="../media/image102.png"/><Relationship Id="rId6" Type="http://schemas.openxmlformats.org/officeDocument/2006/relationships/image" Target="../media/image101.png"/><Relationship Id="rId7" Type="http://schemas.openxmlformats.org/officeDocument/2006/relationships/image" Target="../media/image100.png"/><Relationship Id="rId8" Type="http://schemas.openxmlformats.org/officeDocument/2006/relationships/image" Target="../media/image107.png"/><Relationship Id="rId11" Type="http://schemas.openxmlformats.org/officeDocument/2006/relationships/image" Target="../media/image106.png"/><Relationship Id="rId10" Type="http://schemas.openxmlformats.org/officeDocument/2006/relationships/image" Target="../media/image110.png"/><Relationship Id="rId13" Type="http://schemas.openxmlformats.org/officeDocument/2006/relationships/image" Target="../media/image103.png"/><Relationship Id="rId12" Type="http://schemas.openxmlformats.org/officeDocument/2006/relationships/image" Target="../media/image105.png"/><Relationship Id="rId15" Type="http://schemas.openxmlformats.org/officeDocument/2006/relationships/image" Target="../media/image116.png"/><Relationship Id="rId14" Type="http://schemas.openxmlformats.org/officeDocument/2006/relationships/image" Target="../media/image108.png"/><Relationship Id="rId17" Type="http://schemas.openxmlformats.org/officeDocument/2006/relationships/image" Target="../media/image115.png"/><Relationship Id="rId16" Type="http://schemas.openxmlformats.org/officeDocument/2006/relationships/image" Target="../media/image109.png"/><Relationship Id="rId19" Type="http://schemas.openxmlformats.org/officeDocument/2006/relationships/image" Target="../media/image117.png"/><Relationship Id="rId18" Type="http://schemas.openxmlformats.org/officeDocument/2006/relationships/image" Target="../media/image1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19.png"/><Relationship Id="rId5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375" y="3956595"/>
            <a:ext cx="5710237" cy="1590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24662" y="2586037"/>
            <a:ext cx="4633912" cy="6810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7" name="Google Shape;87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24662" y="5133975"/>
            <a:ext cx="4633912" cy="6810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8" name="Google Shape;88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4375" y="4404270"/>
            <a:ext cx="2797968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9" name="Google Shape;89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626643" y="4404270"/>
            <a:ext cx="2797968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0" name="Google Shape;90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14375" y="5032920"/>
            <a:ext cx="2797968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626643" y="5032920"/>
            <a:ext cx="2797968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14375" y="542925"/>
            <a:ext cx="666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715625" y="523875"/>
            <a:ext cx="7620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714375" y="2167830"/>
            <a:ext cx="57102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DB121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HSBC × BAIF HACKATHON DELIVERABLE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714375" y="2434530"/>
            <a:ext cx="5995749" cy="712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100" u="none" cap="none" strike="noStrike">
                <a:solidFill>
                  <a:srgbClr val="002D62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अनुवादिनी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14375" y="3261270"/>
            <a:ext cx="571023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An end-to-end local localization engine translating text, audio, and video manuals seamlessly to empower rural Indian agricultural programs.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714375" y="4156620"/>
            <a:ext cx="5710237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PRODUCT ENGINEERING TEAM</a:t>
            </a:r>
            <a:endParaRPr/>
          </a:p>
        </p:txBody>
      </p:sp>
      <p:pic>
        <p:nvPicPr>
          <p:cNvPr descr="image.png" id="98" name="Google Shape;98;p1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824662" y="1400175"/>
            <a:ext cx="4633912" cy="1866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3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824662" y="3948112"/>
            <a:ext cx="30861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3"/>
          <p:cNvSpPr txBox="1"/>
          <p:nvPr/>
        </p:nvSpPr>
        <p:spPr>
          <a:xfrm>
            <a:off x="6967537" y="2728912"/>
            <a:ext cx="456557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On-Field Farmers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6967537" y="2967037"/>
            <a:ext cx="4348162" cy="15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Providing regional agricultural training content directly at ground level.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6967537" y="5276850"/>
            <a:ext cx="456557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Bridging the Technical Gap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6967537" y="5514975"/>
            <a:ext cx="4348162" cy="15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High-fidelity speech synthesis and subtitles running 100% offline.</a:t>
            </a:r>
            <a:endParaRPr/>
          </a:p>
        </p:txBody>
      </p:sp>
      <p:pic>
        <p:nvPicPr>
          <p:cNvPr descr="image.png" id="104" name="Google Shape;104;p13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66775" y="450904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3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779043" y="450904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3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66775" y="513769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3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779043" y="513769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3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933450" y="4594770"/>
            <a:ext cx="1714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3"/>
          <p:cNvSpPr txBox="1"/>
          <p:nvPr/>
        </p:nvSpPr>
        <p:spPr>
          <a:xfrm>
            <a:off x="1285875" y="4513808"/>
            <a:ext cx="9429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Rupali Tripathi</a:t>
            </a:r>
            <a:endParaRPr/>
          </a:p>
        </p:txBody>
      </p:sp>
      <p:sp>
        <p:nvSpPr>
          <p:cNvPr id="110" name="Google Shape;110;p13"/>
          <p:cNvSpPr txBox="1"/>
          <p:nvPr/>
        </p:nvSpPr>
        <p:spPr>
          <a:xfrm>
            <a:off x="1285875" y="4675733"/>
            <a:ext cx="9429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Software Engineer</a:t>
            </a:r>
            <a:endParaRPr/>
          </a:p>
        </p:txBody>
      </p:sp>
      <p:pic>
        <p:nvPicPr>
          <p:cNvPr descr="image.png" id="111" name="Google Shape;111;p13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3845718" y="4594770"/>
            <a:ext cx="1714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3"/>
          <p:cNvSpPr txBox="1"/>
          <p:nvPr/>
        </p:nvSpPr>
        <p:spPr>
          <a:xfrm>
            <a:off x="4198143" y="4513808"/>
            <a:ext cx="9239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Rupali Joshi</a:t>
            </a:r>
            <a:endParaRPr/>
          </a:p>
        </p:txBody>
      </p:sp>
      <p:sp>
        <p:nvSpPr>
          <p:cNvPr id="113" name="Google Shape;113;p13"/>
          <p:cNvSpPr txBox="1"/>
          <p:nvPr/>
        </p:nvSpPr>
        <p:spPr>
          <a:xfrm>
            <a:off x="4198143" y="4675733"/>
            <a:ext cx="9239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Software Engineer</a:t>
            </a:r>
            <a:endParaRPr/>
          </a:p>
        </p:txBody>
      </p:sp>
      <p:pic>
        <p:nvPicPr>
          <p:cNvPr descr="image.png" id="114" name="Google Shape;114;p13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952500" y="5223420"/>
            <a:ext cx="1333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3"/>
          <p:cNvSpPr txBox="1"/>
          <p:nvPr/>
        </p:nvSpPr>
        <p:spPr>
          <a:xfrm>
            <a:off x="1285875" y="5142458"/>
            <a:ext cx="9239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Rupali Pandey</a:t>
            </a:r>
            <a:endParaRPr/>
          </a:p>
        </p:txBody>
      </p:sp>
      <p:sp>
        <p:nvSpPr>
          <p:cNvPr id="116" name="Google Shape;116;p13"/>
          <p:cNvSpPr txBox="1"/>
          <p:nvPr/>
        </p:nvSpPr>
        <p:spPr>
          <a:xfrm>
            <a:off x="1285875" y="5304383"/>
            <a:ext cx="9239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Software Engineer</a:t>
            </a:r>
            <a:endParaRPr/>
          </a:p>
        </p:txBody>
      </p:sp>
      <p:pic>
        <p:nvPicPr>
          <p:cNvPr descr="image.png" id="117" name="Google Shape;117;p13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3855243" y="5223420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3"/>
          <p:cNvSpPr txBox="1"/>
          <p:nvPr/>
        </p:nvSpPr>
        <p:spPr>
          <a:xfrm>
            <a:off x="4198143" y="5142458"/>
            <a:ext cx="9239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Rupali Pant</a:t>
            </a:r>
            <a:endParaRPr/>
          </a:p>
        </p:txBody>
      </p:sp>
      <p:sp>
        <p:nvSpPr>
          <p:cNvPr id="119" name="Google Shape;119;p13"/>
          <p:cNvSpPr txBox="1"/>
          <p:nvPr/>
        </p:nvSpPr>
        <p:spPr>
          <a:xfrm>
            <a:off x="4198143" y="5304383"/>
            <a:ext cx="9239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Software Engineer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4" name="Google Shape;12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34550" y="381000"/>
            <a:ext cx="17430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2287488"/>
            <a:ext cx="5736431" cy="29411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84181" y="2287488"/>
            <a:ext cx="4693443" cy="29411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09650" y="2973288"/>
            <a:ext cx="5145881" cy="90279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/>
          <p:nvPr/>
        </p:nvSpPr>
        <p:spPr>
          <a:xfrm>
            <a:off x="9877425" y="466725"/>
            <a:ext cx="57150" cy="57150"/>
          </a:xfrm>
          <a:prstGeom prst="roundRect">
            <a:avLst>
              <a:gd fmla="val 50000" name="adj"/>
            </a:avLst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1333500" y="2582763"/>
            <a:ext cx="4822031" cy="247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B121A"/>
                </a:solidFill>
                <a:latin typeface="Inter"/>
                <a:ea typeface="Inter"/>
                <a:cs typeface="Inter"/>
                <a:sym typeface="Inter"/>
              </a:rPr>
              <a:t>Core Challenge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1276350" y="4018954"/>
            <a:ext cx="487918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Unreliable Field Internet:</a:t>
            </a: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Solutions must perform 100% locally on BAIF's on-premises low-spec local machinery.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1276350" y="4533304"/>
            <a:ext cx="487918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Media Disjointedness:</a:t>
            </a: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On-field manuals are heavily fragmented across documents, audio instructions, and videos.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7355681" y="2582763"/>
            <a:ext cx="3826668" cy="247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Target Deliverables</a:t>
            </a:r>
            <a:endParaRPr/>
          </a:p>
        </p:txBody>
      </p:sp>
      <p:sp>
        <p:nvSpPr>
          <p:cNvPr id="134" name="Google Shape;134;p14"/>
          <p:cNvSpPr txBox="1"/>
          <p:nvPr/>
        </p:nvSpPr>
        <p:spPr>
          <a:xfrm>
            <a:off x="7346156" y="3104554"/>
            <a:ext cx="3836193" cy="3857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Input Media Formats:</a:t>
            </a:r>
            <a:r>
              <a:rPr b="0" i="0" lang="en-US" sz="1012" u="none" cap="none" strike="noStrik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MP4, MOV, MKV, AVI, MP3, WAV, AAC, TXT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7346156" y="3585567"/>
            <a:ext cx="3836193" cy="1928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Language Triad:</a:t>
            </a:r>
            <a:r>
              <a:rPr b="0" i="0" lang="en-US" sz="1012" u="none" cap="none" strike="noStrik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Marathi, Hindi, English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7346156" y="3873698"/>
            <a:ext cx="3836193" cy="578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Multi-Core Deliverables:</a:t>
            </a:r>
            <a:r>
              <a:rPr b="0" i="0" lang="en-US" sz="1012" u="none" cap="none" strike="noStrik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Automatic Speech Recognition (ASR), translation preservation, local TTS Synthesis &amp; Subtitle Burns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7346156" y="4547592"/>
            <a:ext cx="3836193" cy="3857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2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Licensing Constraints:</a:t>
            </a:r>
            <a:r>
              <a:rPr b="0" i="0" lang="en-US" sz="1012" u="none" cap="none" strike="noStrik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100% open-source packages with ₹0 execution overhead or cloud API bills</a:t>
            </a:r>
            <a:endParaRPr/>
          </a:p>
        </p:txBody>
      </p:sp>
      <p:pic>
        <p:nvPicPr>
          <p:cNvPr descr="image.png" id="138" name="Google Shape;138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9650" y="2601813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4"/>
          <p:cNvSpPr txBox="1"/>
          <p:nvPr/>
        </p:nvSpPr>
        <p:spPr>
          <a:xfrm>
            <a:off x="1247775" y="3116163"/>
            <a:ext cx="4717256" cy="617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12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"Design, build, and deploy an offline-capable translation application for BAIF that accepts text, audio, and video inputs to empower on-field rural agricultural programs."</a:t>
            </a:r>
            <a:endParaRPr/>
          </a:p>
        </p:txBody>
      </p:sp>
      <p:pic>
        <p:nvPicPr>
          <p:cNvPr descr="image.png" id="140" name="Google Shape;140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079456" y="2601813"/>
            <a:ext cx="1619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9650" y="4552354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079456" y="312360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079456" y="360461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079456" y="3892748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079456" y="4566642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4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PROBLEM STATEMENT &amp; REQUIREMENTS</a:t>
            </a:r>
            <a:endParaRPr/>
          </a:p>
        </p:txBody>
      </p:sp>
      <p:sp>
        <p:nvSpPr>
          <p:cNvPr id="147" name="Google Shape;147;p14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86950" y="381000"/>
            <a:ext cx="15906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4861024"/>
            <a:ext cx="1076325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34300" y="4975324"/>
            <a:ext cx="7048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53450" y="4975324"/>
            <a:ext cx="8191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486900" y="4975324"/>
            <a:ext cx="9239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525125" y="4975324"/>
            <a:ext cx="7143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14400" y="38704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14400" y="41752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3662362" y="38704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1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662362" y="41752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5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410325" y="38704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5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6410325" y="41752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5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9158287" y="38704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5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9158287" y="4175224"/>
            <a:ext cx="2119312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5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714375" y="2235993"/>
            <a:ext cx="2519362" cy="23869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5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3462337" y="2235993"/>
            <a:ext cx="2519362" cy="23869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5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6210300" y="2235993"/>
            <a:ext cx="2519362" cy="23869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5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8958262" y="2235993"/>
            <a:ext cx="2519362" cy="238690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5"/>
          <p:cNvSpPr/>
          <p:nvPr/>
        </p:nvSpPr>
        <p:spPr>
          <a:xfrm>
            <a:off x="10029825" y="466725"/>
            <a:ext cx="57150" cy="57150"/>
          </a:xfrm>
          <a:prstGeom prst="roundRect">
            <a:avLst>
              <a:gd fmla="val 50000" name="adj"/>
            </a:avLst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1252537" y="3415158"/>
            <a:ext cx="9686925" cy="28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952500" y="5003899"/>
            <a:ext cx="219075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OPEN-SOURCE CORE DEPENDENCIES</a:t>
            </a:r>
            <a:endParaRPr/>
          </a:p>
        </p:txBody>
      </p:sp>
      <p:pic>
        <p:nvPicPr>
          <p:cNvPr descr="image.png" id="174" name="Google Shape;174;p15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716881" y="2474118"/>
            <a:ext cx="51435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5"/>
          <p:cNvSpPr txBox="1"/>
          <p:nvPr/>
        </p:nvSpPr>
        <p:spPr>
          <a:xfrm>
            <a:off x="1408985" y="3121818"/>
            <a:ext cx="1130141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Ingestion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914400" y="3436143"/>
            <a:ext cx="2119312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Accepts raw media formats with automated verification loops.</a:t>
            </a:r>
            <a:endParaRPr/>
          </a:p>
        </p:txBody>
      </p:sp>
      <p:pic>
        <p:nvPicPr>
          <p:cNvPr descr="image.png" id="177" name="Google Shape;177;p15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4464843" y="2474118"/>
            <a:ext cx="51435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5"/>
          <p:cNvSpPr txBox="1"/>
          <p:nvPr/>
        </p:nvSpPr>
        <p:spPr>
          <a:xfrm>
            <a:off x="3916918" y="3121818"/>
            <a:ext cx="1610201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Core Processor</a:t>
            </a:r>
            <a:endParaRPr/>
          </a:p>
        </p:txBody>
      </p:sp>
      <p:sp>
        <p:nvSpPr>
          <p:cNvPr id="179" name="Google Shape;179;p15"/>
          <p:cNvSpPr txBox="1"/>
          <p:nvPr/>
        </p:nvSpPr>
        <p:spPr>
          <a:xfrm>
            <a:off x="3662362" y="3436143"/>
            <a:ext cx="2119312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Handles on-premises speech recognition and contextual translation.</a:t>
            </a:r>
            <a:endParaRPr/>
          </a:p>
        </p:txBody>
      </p:sp>
      <p:pic>
        <p:nvPicPr>
          <p:cNvPr descr="image.png" id="180" name="Google Shape;180;p15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7212806" y="2474118"/>
            <a:ext cx="51435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5"/>
          <p:cNvSpPr txBox="1"/>
          <p:nvPr/>
        </p:nvSpPr>
        <p:spPr>
          <a:xfrm>
            <a:off x="6889908" y="3121818"/>
            <a:ext cx="1160145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Synthesis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6410325" y="3436143"/>
            <a:ext cx="2119312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Generates high-fidelity voices and scales Devanagari text streams.</a:t>
            </a:r>
            <a:endParaRPr/>
          </a:p>
        </p:txBody>
      </p:sp>
      <p:pic>
        <p:nvPicPr>
          <p:cNvPr descr="image.png" id="183" name="Google Shape;183;p15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9960768" y="2474118"/>
            <a:ext cx="51435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5"/>
          <p:cNvSpPr txBox="1"/>
          <p:nvPr/>
        </p:nvSpPr>
        <p:spPr>
          <a:xfrm>
            <a:off x="9687877" y="3121818"/>
            <a:ext cx="1060132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Outputs</a:t>
            </a:r>
            <a:endParaRPr/>
          </a:p>
        </p:txBody>
      </p:sp>
      <p:sp>
        <p:nvSpPr>
          <p:cNvPr id="185" name="Google Shape;185;p15"/>
          <p:cNvSpPr txBox="1"/>
          <p:nvPr/>
        </p:nvSpPr>
        <p:spPr>
          <a:xfrm>
            <a:off x="9158287" y="3436143"/>
            <a:ext cx="2119312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Fuses layers natively using local execution libraries.</a:t>
            </a:r>
            <a:endParaRPr/>
          </a:p>
        </p:txBody>
      </p:sp>
      <p:pic>
        <p:nvPicPr>
          <p:cNvPr descr="image.png" id="186" name="Google Shape;186;p15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1878806" y="2636043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5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2274093" y="3150393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5"/>
          <p:cNvPicPr preferRelativeResize="0"/>
          <p:nvPr/>
        </p:nvPicPr>
        <p:blipFill rotWithShape="1">
          <a:blip r:embed="rId28">
            <a:alphaModFix/>
          </a:blip>
          <a:srcRect b="0" l="0" r="0" t="0"/>
          <a:stretch/>
        </p:blipFill>
        <p:spPr>
          <a:xfrm>
            <a:off x="4626768" y="2636043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5"/>
          <p:cNvPicPr preferRelativeResize="0"/>
          <p:nvPr/>
        </p:nvPicPr>
        <p:blipFill rotWithShape="1">
          <a:blip r:embed="rId29">
            <a:alphaModFix/>
          </a:blip>
          <a:srcRect b="0" l="0" r="0" t="0"/>
          <a:stretch/>
        </p:blipFill>
        <p:spPr>
          <a:xfrm>
            <a:off x="5231606" y="3150393"/>
            <a:ext cx="2571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5"/>
          <p:cNvPicPr preferRelativeResize="0"/>
          <p:nvPr/>
        </p:nvPicPr>
        <p:blipFill rotWithShape="1">
          <a:blip r:embed="rId30">
            <a:alphaModFix/>
          </a:blip>
          <a:srcRect b="0" l="0" r="0" t="0"/>
          <a:stretch/>
        </p:blipFill>
        <p:spPr>
          <a:xfrm>
            <a:off x="7350918" y="2636043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5"/>
          <p:cNvPicPr preferRelativeResize="0"/>
          <p:nvPr/>
        </p:nvPicPr>
        <p:blipFill rotWithShape="1">
          <a:blip r:embed="rId31">
            <a:alphaModFix/>
          </a:blip>
          <a:srcRect b="0" l="0" r="0" t="0"/>
          <a:stretch/>
        </p:blipFill>
        <p:spPr>
          <a:xfrm>
            <a:off x="7765256" y="3150393"/>
            <a:ext cx="2571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5"/>
          <p:cNvPicPr preferRelativeResize="0"/>
          <p:nvPr/>
        </p:nvPicPr>
        <p:blipFill rotWithShape="1">
          <a:blip r:embed="rId32">
            <a:alphaModFix/>
          </a:blip>
          <a:srcRect b="0" l="0" r="0" t="0"/>
          <a:stretch/>
        </p:blipFill>
        <p:spPr>
          <a:xfrm>
            <a:off x="10122693" y="2636043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5"/>
          <p:cNvPicPr preferRelativeResize="0"/>
          <p:nvPr/>
        </p:nvPicPr>
        <p:blipFill rotWithShape="1">
          <a:blip r:embed="rId33">
            <a:alphaModFix/>
          </a:blip>
          <a:srcRect b="0" l="0" r="0" t="0"/>
          <a:stretch/>
        </p:blipFill>
        <p:spPr>
          <a:xfrm>
            <a:off x="10446543" y="3150393"/>
            <a:ext cx="2762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5"/>
          <p:cNvPicPr preferRelativeResize="0"/>
          <p:nvPr/>
        </p:nvPicPr>
        <p:blipFill rotWithShape="1">
          <a:blip r:embed="rId34">
            <a:alphaModFix/>
          </a:blip>
          <a:srcRect b="0" l="0" r="0" t="0"/>
          <a:stretch/>
        </p:blipFill>
        <p:spPr>
          <a:xfrm>
            <a:off x="7839075" y="5022949"/>
            <a:ext cx="857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5"/>
          <p:cNvPicPr preferRelativeResize="0"/>
          <p:nvPr/>
        </p:nvPicPr>
        <p:blipFill rotWithShape="1">
          <a:blip r:embed="rId35">
            <a:alphaModFix/>
          </a:blip>
          <a:srcRect b="0" l="0" r="0" t="0"/>
          <a:stretch/>
        </p:blipFill>
        <p:spPr>
          <a:xfrm>
            <a:off x="8658225" y="5022949"/>
            <a:ext cx="1238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5"/>
          <p:cNvPicPr preferRelativeResize="0"/>
          <p:nvPr/>
        </p:nvPicPr>
        <p:blipFill rotWithShape="1">
          <a:blip r:embed="rId36">
            <a:alphaModFix/>
          </a:blip>
          <a:srcRect b="0" l="0" r="0" t="0"/>
          <a:stretch/>
        </p:blipFill>
        <p:spPr>
          <a:xfrm>
            <a:off x="9591675" y="5022949"/>
            <a:ext cx="95250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15"/>
          <p:cNvPicPr preferRelativeResize="0"/>
          <p:nvPr/>
        </p:nvPicPr>
        <p:blipFill rotWithShape="1">
          <a:blip r:embed="rId37">
            <a:alphaModFix/>
          </a:blip>
          <a:srcRect b="0" l="0" r="0" t="0"/>
          <a:stretch/>
        </p:blipFill>
        <p:spPr>
          <a:xfrm>
            <a:off x="10629900" y="5022949"/>
            <a:ext cx="1238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8" name="Google Shape;198;p15"/>
          <p:cNvPicPr preferRelativeResize="0"/>
          <p:nvPr/>
        </p:nvPicPr>
        <p:blipFill rotWithShape="1">
          <a:blip r:embed="rId38">
            <a:alphaModFix/>
          </a:blip>
          <a:srcRect b="0" l="0" r="0" t="0"/>
          <a:stretch/>
        </p:blipFill>
        <p:spPr>
          <a:xfrm>
            <a:off x="2852737" y="3941861"/>
            <a:ext cx="76200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5"/>
          <p:cNvPicPr preferRelativeResize="0"/>
          <p:nvPr/>
        </p:nvPicPr>
        <p:blipFill rotWithShape="1">
          <a:blip r:embed="rId39">
            <a:alphaModFix/>
          </a:blip>
          <a:srcRect b="0" l="0" r="0" t="0"/>
          <a:stretch/>
        </p:blipFill>
        <p:spPr>
          <a:xfrm>
            <a:off x="2814637" y="4246661"/>
            <a:ext cx="114300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5"/>
          <p:cNvPicPr preferRelativeResize="0"/>
          <p:nvPr/>
        </p:nvPicPr>
        <p:blipFill rotWithShape="1">
          <a:blip r:embed="rId40">
            <a:alphaModFix/>
          </a:blip>
          <a:srcRect b="0" l="0" r="0" t="0"/>
          <a:stretch/>
        </p:blipFill>
        <p:spPr>
          <a:xfrm>
            <a:off x="5600700" y="3941861"/>
            <a:ext cx="76200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1" name="Google Shape;201;p15"/>
          <p:cNvPicPr preferRelativeResize="0"/>
          <p:nvPr/>
        </p:nvPicPr>
        <p:blipFill rotWithShape="1">
          <a:blip r:embed="rId41">
            <a:alphaModFix/>
          </a:blip>
          <a:srcRect b="0" l="0" r="0" t="0"/>
          <a:stretch/>
        </p:blipFill>
        <p:spPr>
          <a:xfrm>
            <a:off x="5543550" y="4246661"/>
            <a:ext cx="133350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15"/>
          <p:cNvPicPr preferRelativeResize="0"/>
          <p:nvPr/>
        </p:nvPicPr>
        <p:blipFill rotWithShape="1">
          <a:blip r:embed="rId42">
            <a:alphaModFix/>
          </a:blip>
          <a:srcRect b="0" l="0" r="0" t="0"/>
          <a:stretch/>
        </p:blipFill>
        <p:spPr>
          <a:xfrm>
            <a:off x="8320087" y="3941861"/>
            <a:ext cx="104775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5"/>
          <p:cNvPicPr preferRelativeResize="0"/>
          <p:nvPr/>
        </p:nvPicPr>
        <p:blipFill rotWithShape="1">
          <a:blip r:embed="rId43">
            <a:alphaModFix/>
          </a:blip>
          <a:srcRect b="0" l="0" r="0" t="0"/>
          <a:stretch/>
        </p:blipFill>
        <p:spPr>
          <a:xfrm>
            <a:off x="8310562" y="4246661"/>
            <a:ext cx="114300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5"/>
          <p:cNvPicPr preferRelativeResize="0"/>
          <p:nvPr/>
        </p:nvPicPr>
        <p:blipFill rotWithShape="1">
          <a:blip r:embed="rId44">
            <a:alphaModFix/>
          </a:blip>
          <a:srcRect b="0" l="0" r="0" t="0"/>
          <a:stretch/>
        </p:blipFill>
        <p:spPr>
          <a:xfrm>
            <a:off x="11068050" y="3941861"/>
            <a:ext cx="10477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5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SOLUTION ARCHITECTURE</a:t>
            </a:r>
            <a:endParaRPr/>
          </a:p>
        </p:txBody>
      </p:sp>
      <p:sp>
        <p:nvSpPr>
          <p:cNvPr id="206" name="Google Shape;206;p15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01275" y="381000"/>
            <a:ext cx="12763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2074217"/>
            <a:ext cx="4345632" cy="33676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93382" y="2464742"/>
            <a:ext cx="2970609" cy="14171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06866" y="2464742"/>
            <a:ext cx="2970609" cy="14171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6" name="Google Shape;216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93382" y="4024758"/>
            <a:ext cx="2970609" cy="14171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06866" y="4024758"/>
            <a:ext cx="2970609" cy="141714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6"/>
          <p:cNvSpPr/>
          <p:nvPr/>
        </p:nvSpPr>
        <p:spPr>
          <a:xfrm>
            <a:off x="10344150" y="466725"/>
            <a:ext cx="57150" cy="57150"/>
          </a:xfrm>
          <a:prstGeom prst="roundRect">
            <a:avLst>
              <a:gd fmla="val 50000" name="adj"/>
            </a:avLst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6"/>
          <p:cNvSpPr txBox="1"/>
          <p:nvPr/>
        </p:nvSpPr>
        <p:spPr>
          <a:xfrm>
            <a:off x="5660082" y="2074217"/>
            <a:ext cx="5817393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Module Specifications</a:t>
            </a:r>
            <a:endParaRPr/>
          </a:p>
        </p:txBody>
      </p:sp>
      <p:sp>
        <p:nvSpPr>
          <p:cNvPr id="220" name="Google Shape;220;p16"/>
          <p:cNvSpPr txBox="1"/>
          <p:nvPr/>
        </p:nvSpPr>
        <p:spPr>
          <a:xfrm>
            <a:off x="1381125" y="2359967"/>
            <a:ext cx="3562789" cy="3524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100% Offline Mode</a:t>
            </a:r>
            <a:endParaRPr/>
          </a:p>
        </p:txBody>
      </p:sp>
      <p:sp>
        <p:nvSpPr>
          <p:cNvPr id="221" name="Google Shape;221;p16"/>
          <p:cNvSpPr/>
          <p:nvPr/>
        </p:nvSpPr>
        <p:spPr>
          <a:xfrm>
            <a:off x="1000125" y="2807642"/>
            <a:ext cx="3774132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6"/>
          <p:cNvSpPr txBox="1"/>
          <p:nvPr/>
        </p:nvSpPr>
        <p:spPr>
          <a:xfrm>
            <a:off x="1000125" y="2969567"/>
            <a:ext cx="3774132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अनुवादिनी performs entirely on-premises without cloud dependencies or active internet connection pings.</a:t>
            </a:r>
            <a:endParaRPr/>
          </a:p>
        </p:txBody>
      </p:sp>
      <p:pic>
        <p:nvPicPr>
          <p:cNvPr descr="image.png" id="223" name="Google Shape;223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93382" y="2088505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00125" y="241235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162050" y="3714303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162050" y="4563814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6"/>
          <p:cNvSpPr txBox="1"/>
          <p:nvPr/>
        </p:nvSpPr>
        <p:spPr>
          <a:xfrm>
            <a:off x="5593407" y="2664767"/>
            <a:ext cx="257055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ASR Recognition</a:t>
            </a:r>
            <a:endParaRPr/>
          </a:p>
        </p:txBody>
      </p:sp>
      <p:sp>
        <p:nvSpPr>
          <p:cNvPr id="228" name="Google Shape;228;p16"/>
          <p:cNvSpPr txBox="1"/>
          <p:nvPr/>
        </p:nvSpPr>
        <p:spPr>
          <a:xfrm>
            <a:off x="5593407" y="3184921"/>
            <a:ext cx="2570559" cy="496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Uses optimized CTranslate2 translation engines to drive up to 4x speedups on standard client CPU devices.</a:t>
            </a:r>
            <a:endParaRPr/>
          </a:p>
        </p:txBody>
      </p:sp>
      <p:sp>
        <p:nvSpPr>
          <p:cNvPr id="229" name="Google Shape;229;p16"/>
          <p:cNvSpPr txBox="1"/>
          <p:nvPr/>
        </p:nvSpPr>
        <p:spPr>
          <a:xfrm>
            <a:off x="8706891" y="2664767"/>
            <a:ext cx="257055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Neural Translation</a:t>
            </a:r>
            <a:endParaRPr/>
          </a:p>
        </p:txBody>
      </p:sp>
      <p:sp>
        <p:nvSpPr>
          <p:cNvPr id="230" name="Google Shape;230;p16"/>
          <p:cNvSpPr txBox="1"/>
          <p:nvPr/>
        </p:nvSpPr>
        <p:spPr>
          <a:xfrm>
            <a:off x="8706891" y="3184921"/>
            <a:ext cx="2570559" cy="496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Meta's contextual network model, highly accurate across local Marathi, Hindi, and English regional frameworks.</a:t>
            </a:r>
            <a:endParaRPr/>
          </a:p>
        </p:txBody>
      </p:sp>
      <p:sp>
        <p:nvSpPr>
          <p:cNvPr id="231" name="Google Shape;231;p16"/>
          <p:cNvSpPr txBox="1"/>
          <p:nvPr/>
        </p:nvSpPr>
        <p:spPr>
          <a:xfrm>
            <a:off x="5593407" y="4224783"/>
            <a:ext cx="257055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Speech Synthesis</a:t>
            </a:r>
            <a:endParaRPr/>
          </a:p>
        </p:txBody>
      </p:sp>
      <p:sp>
        <p:nvSpPr>
          <p:cNvPr id="232" name="Google Shape;232;p16"/>
          <p:cNvSpPr txBox="1"/>
          <p:nvPr/>
        </p:nvSpPr>
        <p:spPr>
          <a:xfrm>
            <a:off x="5593407" y="4744938"/>
            <a:ext cx="2570559" cy="496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 exceptionally fast, offline multi-dialect TTS synthesizer generating fluid regional audio on zero-latency footprints.</a:t>
            </a:r>
            <a:endParaRPr/>
          </a:p>
        </p:txBody>
      </p:sp>
      <p:sp>
        <p:nvSpPr>
          <p:cNvPr id="233" name="Google Shape;233;p16"/>
          <p:cNvSpPr txBox="1"/>
          <p:nvPr/>
        </p:nvSpPr>
        <p:spPr>
          <a:xfrm>
            <a:off x="8706891" y="4224783"/>
            <a:ext cx="257055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Synthesizer</a:t>
            </a:r>
            <a:endParaRPr/>
          </a:p>
        </p:txBody>
      </p:sp>
      <p:sp>
        <p:nvSpPr>
          <p:cNvPr id="234" name="Google Shape;234;p16"/>
          <p:cNvSpPr txBox="1"/>
          <p:nvPr/>
        </p:nvSpPr>
        <p:spPr>
          <a:xfrm>
            <a:off x="8706891" y="4744938"/>
            <a:ext cx="2570559" cy="496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Handles split audio sync, video timeline reformatting, and hard-burns Devanagari font streams onto output files.</a:t>
            </a:r>
            <a:endParaRPr/>
          </a:p>
        </p:txBody>
      </p:sp>
      <p:sp>
        <p:nvSpPr>
          <p:cNvPr id="235" name="Google Shape;235;p16"/>
          <p:cNvSpPr txBox="1"/>
          <p:nvPr/>
        </p:nvSpPr>
        <p:spPr>
          <a:xfrm>
            <a:off x="1447800" y="3695253"/>
            <a:ext cx="316453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 MODEL CACHING</a:t>
            </a:r>
            <a:endParaRPr/>
          </a:p>
        </p:txBody>
      </p:sp>
      <p:sp>
        <p:nvSpPr>
          <p:cNvPr id="236" name="Google Shape;236;p16"/>
          <p:cNvSpPr txBox="1"/>
          <p:nvPr/>
        </p:nvSpPr>
        <p:spPr>
          <a:xfrm>
            <a:off x="1447800" y="3876228"/>
            <a:ext cx="3164532" cy="306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2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 weights are cached directly inside standard directory roots during setup to support offline initialization.</a:t>
            </a:r>
            <a:endParaRPr/>
          </a:p>
        </p:txBody>
      </p:sp>
      <p:sp>
        <p:nvSpPr>
          <p:cNvPr id="237" name="Google Shape;237;p16"/>
          <p:cNvSpPr txBox="1"/>
          <p:nvPr/>
        </p:nvSpPr>
        <p:spPr>
          <a:xfrm>
            <a:off x="1447800" y="4544764"/>
            <a:ext cx="316453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INT8 CPU OPTIMIZATION</a:t>
            </a:r>
            <a:endParaRPr/>
          </a:p>
        </p:txBody>
      </p:sp>
      <p:sp>
        <p:nvSpPr>
          <p:cNvPr id="238" name="Google Shape;238;p16"/>
          <p:cNvSpPr txBox="1"/>
          <p:nvPr/>
        </p:nvSpPr>
        <p:spPr>
          <a:xfrm>
            <a:off x="1447800" y="4725739"/>
            <a:ext cx="3164532" cy="306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2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CTranslate2 quantizes model execution weights, running easily on standard Intel CPUs without GPU acceleration.</a:t>
            </a:r>
            <a:endParaRPr/>
          </a:p>
        </p:txBody>
      </p:sp>
      <p:pic>
        <p:nvPicPr>
          <p:cNvPr descr="image.png" id="239" name="Google Shape;239;p16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7097166" y="2664767"/>
            <a:ext cx="10668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1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0620226" y="2664767"/>
            <a:ext cx="65722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7411491" y="4224783"/>
            <a:ext cx="7524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1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0286851" y="4224783"/>
            <a:ext cx="9906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6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OFFLINE ENGINE &amp; TECH STACK</a:t>
            </a:r>
            <a:endParaRPr/>
          </a:p>
        </p:txBody>
      </p:sp>
      <p:sp>
        <p:nvSpPr>
          <p:cNvPr id="244" name="Google Shape;244;p16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44150" y="381000"/>
            <a:ext cx="11334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1852166"/>
            <a:ext cx="10763250" cy="3811637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7"/>
          <p:cNvSpPr/>
          <p:nvPr/>
        </p:nvSpPr>
        <p:spPr>
          <a:xfrm>
            <a:off x="10487025" y="466725"/>
            <a:ext cx="57150" cy="57150"/>
          </a:xfrm>
          <a:prstGeom prst="roundRect">
            <a:avLst>
              <a:gd fmla="val 50000" name="adj"/>
            </a:avLst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3" name="Google Shape;253;p17"/>
          <p:cNvGraphicFramePr/>
          <p:nvPr/>
        </p:nvGraphicFramePr>
        <p:xfrm>
          <a:off x="723900" y="186169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{6904862A-6A3A-40EB-9C99-39D189B83771}</a:tableStyleId>
              </a:tblPr>
              <a:tblGrid>
                <a:gridCol w="2686050"/>
                <a:gridCol w="8058150"/>
              </a:tblGrid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12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Evaluation Pillar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12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Our Implementation Strength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🌍 Impact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Enables critical, direct, and multi-dialect educational manuals to easily reach rural Hindi- and Marathi-speaking agricultural communities.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📈 Scalability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Modular FastAPI core prepared to integrate chunk-based long video parsing and parallel inference pipelines without modifying core services.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🏭 Readiness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Handles automated CPU safety fallbacks, large files up to 2 GB, and cross-platform processing for Windows, macOS, and Linux out-of-the-box.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🎨 Usability / UX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Clean, drag-and-drop Streamlit UI. Offers instantaneous translation preview panels, dynamic subtitle track editing, and single-click outputs.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🔒 Safety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100% offline local processing. Absolutely zero user inputs, transcripts, or field manuals leave your local corporate networks.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🤝 Inclusivity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Ensures robust accessibility through visual (dynamic subtitles) and auditory (AI voice overlays) regional language generation.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7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💰 Zero Cost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3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Built strictly upon open-source model weights. Completely free of perpetual licensing overhead or recurring cloud subscription bills.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54" name="Google Shape;254;p17"/>
          <p:cNvSpPr/>
          <p:nvPr/>
        </p:nvSpPr>
        <p:spPr>
          <a:xfrm>
            <a:off x="723900" y="2780853"/>
            <a:ext cx="2686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7"/>
          <p:cNvSpPr/>
          <p:nvPr/>
        </p:nvSpPr>
        <p:spPr>
          <a:xfrm>
            <a:off x="3409950" y="2780853"/>
            <a:ext cx="80581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7"/>
          <p:cNvSpPr/>
          <p:nvPr/>
        </p:nvSpPr>
        <p:spPr>
          <a:xfrm>
            <a:off x="723900" y="3333303"/>
            <a:ext cx="2686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3409950" y="3333303"/>
            <a:ext cx="80581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723900" y="3885753"/>
            <a:ext cx="2686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3409950" y="3885753"/>
            <a:ext cx="80581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723900" y="4438203"/>
            <a:ext cx="2686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3409950" y="4438203"/>
            <a:ext cx="80581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7"/>
          <p:cNvSpPr/>
          <p:nvPr/>
        </p:nvSpPr>
        <p:spPr>
          <a:xfrm>
            <a:off x="723900" y="4841974"/>
            <a:ext cx="2686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3409950" y="4841974"/>
            <a:ext cx="80581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723900" y="5245744"/>
            <a:ext cx="26860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3409950" y="5245744"/>
            <a:ext cx="80581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66" name="Google Shape;26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4400" y="2421731"/>
            <a:ext cx="752475" cy="18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4400" y="2974181"/>
            <a:ext cx="1028700" cy="18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8" name="Google Shape;268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14400" y="3526631"/>
            <a:ext cx="942975" cy="18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4400" y="4079081"/>
            <a:ext cx="1143000" cy="18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14400" y="4557266"/>
            <a:ext cx="762000" cy="18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14400" y="4961036"/>
            <a:ext cx="1009650" cy="18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2" name="Google Shape;272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14400" y="5364807"/>
            <a:ext cx="942975" cy="18469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7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HOW IT MEETS EVALUATION PILLARS</a:t>
            </a:r>
            <a:endParaRPr/>
          </a:p>
        </p:txBody>
      </p:sp>
      <p:sp>
        <p:nvSpPr>
          <p:cNvPr id="274" name="Google Shape;274;p17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86975" y="381000"/>
            <a:ext cx="13906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2719833"/>
            <a:ext cx="4719191" cy="2076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4566" y="1948308"/>
            <a:ext cx="5663058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24091" y="1957833"/>
            <a:ext cx="5644008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24091" y="2386458"/>
            <a:ext cx="5644008" cy="3171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714505" y="2072133"/>
            <a:ext cx="3601194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014591" y="2576958"/>
            <a:ext cx="5263008" cy="2790825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18"/>
          <p:cNvSpPr/>
          <p:nvPr/>
        </p:nvSpPr>
        <p:spPr>
          <a:xfrm>
            <a:off x="10229850" y="466725"/>
            <a:ext cx="57150" cy="57150"/>
          </a:xfrm>
          <a:prstGeom prst="roundRect">
            <a:avLst>
              <a:gd fmla="val 50000" name="adj"/>
            </a:avLst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1190625" y="2967483"/>
            <a:ext cx="1826121" cy="178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Full-context translation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3359646" y="2967483"/>
            <a:ext cx="1826269" cy="178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Dynamic subtitle alignment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1190625" y="3260377"/>
            <a:ext cx="1826121" cy="178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Multi-format media parser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3359646" y="3260377"/>
            <a:ext cx="1826269" cy="178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Devanagari font rendering</a:t>
            </a:r>
            <a:endParaRPr/>
          </a:p>
        </p:txBody>
      </p:sp>
      <p:sp>
        <p:nvSpPr>
          <p:cNvPr id="292" name="Google Shape;292;p18"/>
          <p:cNvSpPr txBox="1"/>
          <p:nvPr/>
        </p:nvSpPr>
        <p:spPr>
          <a:xfrm>
            <a:off x="1190625" y="3553271"/>
            <a:ext cx="1826121" cy="178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Up to 2 GB file upload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3359646" y="3553271"/>
            <a:ext cx="1826269" cy="1785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Real-time preview stream</a:t>
            </a:r>
            <a:endParaRPr/>
          </a:p>
        </p:txBody>
      </p:sp>
      <p:sp>
        <p:nvSpPr>
          <p:cNvPr id="294" name="Google Shape;294;p18"/>
          <p:cNvSpPr txBox="1"/>
          <p:nvPr/>
        </p:nvSpPr>
        <p:spPr>
          <a:xfrm>
            <a:off x="1143000" y="3969990"/>
            <a:ext cx="4042916" cy="578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12" u="none" cap="none" strike="noStrik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"अनुवादिनी transforms complex agricultural guidelines into highly accessible regional materials—anywhere, anytime, completely independent of the cloud."</a:t>
            </a:r>
            <a:endParaRPr/>
          </a:p>
        </p:txBody>
      </p:sp>
      <p:sp>
        <p:nvSpPr>
          <p:cNvPr id="295" name="Google Shape;295;p18"/>
          <p:cNvSpPr txBox="1"/>
          <p:nvPr/>
        </p:nvSpPr>
        <p:spPr>
          <a:xfrm>
            <a:off x="5976491" y="2053083"/>
            <a:ext cx="173801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WALKTHROUGH PREVIEW (demo.gif)</a:t>
            </a:r>
            <a:endParaRPr/>
          </a:p>
        </p:txBody>
      </p:sp>
      <p:pic>
        <p:nvPicPr>
          <p:cNvPr descr="image.png" id="296" name="Google Shape;296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76491" y="2062608"/>
            <a:ext cx="76200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384083" y="3317974"/>
            <a:ext cx="523875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18"/>
          <p:cNvSpPr txBox="1"/>
          <p:nvPr/>
        </p:nvSpPr>
        <p:spPr>
          <a:xfrm>
            <a:off x="7445871" y="3851374"/>
            <a:ext cx="24003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Insert Walkthrough GIF Here</a:t>
            </a:r>
            <a:endParaRPr/>
          </a:p>
        </p:txBody>
      </p:sp>
      <p:sp>
        <p:nvSpPr>
          <p:cNvPr id="299" name="Google Shape;299;p18"/>
          <p:cNvSpPr txBox="1"/>
          <p:nvPr/>
        </p:nvSpPr>
        <p:spPr>
          <a:xfrm>
            <a:off x="7122021" y="4146649"/>
            <a:ext cx="3048000" cy="4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Replace this placeholder container in your final HTML code with your live recording  to showcase live performance to the judges.</a:t>
            </a:r>
            <a:endParaRPr/>
          </a:p>
        </p:txBody>
      </p:sp>
      <p:pic>
        <p:nvPicPr>
          <p:cNvPr descr="image.png" id="300" name="Google Shape;300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62025" y="2985343"/>
            <a:ext cx="13335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1" name="Google Shape;301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131046" y="2985343"/>
            <a:ext cx="13335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2" name="Google Shape;302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62025" y="3278237"/>
            <a:ext cx="13335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3" name="Google Shape;303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131046" y="3278237"/>
            <a:ext cx="13335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62025" y="3571130"/>
            <a:ext cx="13335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131046" y="3571130"/>
            <a:ext cx="133350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8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LIVE WALKTHROUGH DEMONSTRATION</a:t>
            </a:r>
            <a:endParaRPr/>
          </a:p>
        </p:txBody>
      </p:sp>
      <p:sp>
        <p:nvSpPr>
          <p:cNvPr id="307" name="Google Shape;307;p18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2" name="Google Shape;31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82250" y="381000"/>
            <a:ext cx="10953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1181992"/>
            <a:ext cx="3460700" cy="51521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65575" y="1181992"/>
            <a:ext cx="3460700" cy="51521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16775" y="1181992"/>
            <a:ext cx="3460849" cy="51521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23900" y="1524892"/>
            <a:ext cx="3441650" cy="47997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8" name="Google Shape;318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375100" y="1524892"/>
            <a:ext cx="3441650" cy="47997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9" name="Google Shape;319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026300" y="1524892"/>
            <a:ext cx="3441799" cy="47997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0" name="Google Shape;320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14400" y="1715392"/>
            <a:ext cx="3060650" cy="44187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1" name="Google Shape;321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565600" y="1715392"/>
            <a:ext cx="3060650" cy="44187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2" name="Google Shape;322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216800" y="1715392"/>
            <a:ext cx="3060799" cy="4418707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19"/>
          <p:cNvSpPr/>
          <p:nvPr/>
        </p:nvSpPr>
        <p:spPr>
          <a:xfrm>
            <a:off x="10525125" y="466725"/>
            <a:ext cx="57150" cy="57150"/>
          </a:xfrm>
          <a:prstGeom prst="roundRect">
            <a:avLst>
              <a:gd fmla="val 50000" name="adj"/>
            </a:avLst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9"/>
          <p:cNvSpPr/>
          <p:nvPr/>
        </p:nvSpPr>
        <p:spPr>
          <a:xfrm>
            <a:off x="723900" y="1191517"/>
            <a:ext cx="3441650" cy="3333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9"/>
          <p:cNvSpPr txBox="1"/>
          <p:nvPr/>
        </p:nvSpPr>
        <p:spPr>
          <a:xfrm>
            <a:off x="866775" y="1286767"/>
            <a:ext cx="31559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UPLOAD DASHBOARD</a:t>
            </a:r>
            <a:endParaRPr/>
          </a:p>
        </p:txBody>
      </p:sp>
      <p:sp>
        <p:nvSpPr>
          <p:cNvPr id="326" name="Google Shape;326;p19"/>
          <p:cNvSpPr/>
          <p:nvPr/>
        </p:nvSpPr>
        <p:spPr>
          <a:xfrm>
            <a:off x="723900" y="1515367"/>
            <a:ext cx="344165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9"/>
          <p:cNvSpPr/>
          <p:nvPr/>
        </p:nvSpPr>
        <p:spPr>
          <a:xfrm>
            <a:off x="4375100" y="1191517"/>
            <a:ext cx="3441650" cy="3333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9"/>
          <p:cNvSpPr txBox="1"/>
          <p:nvPr/>
        </p:nvSpPr>
        <p:spPr>
          <a:xfrm>
            <a:off x="4517975" y="1286767"/>
            <a:ext cx="31559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TRANSCRIPT TRANSLATION</a:t>
            </a:r>
            <a:endParaRPr/>
          </a:p>
        </p:txBody>
      </p:sp>
      <p:sp>
        <p:nvSpPr>
          <p:cNvPr id="329" name="Google Shape;329;p19"/>
          <p:cNvSpPr/>
          <p:nvPr/>
        </p:nvSpPr>
        <p:spPr>
          <a:xfrm>
            <a:off x="4375100" y="1515367"/>
            <a:ext cx="344165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9"/>
          <p:cNvSpPr/>
          <p:nvPr/>
        </p:nvSpPr>
        <p:spPr>
          <a:xfrm>
            <a:off x="8026300" y="1191517"/>
            <a:ext cx="3441799" cy="3333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9"/>
          <p:cNvSpPr txBox="1"/>
          <p:nvPr/>
        </p:nvSpPr>
        <p:spPr>
          <a:xfrm>
            <a:off x="8169175" y="1286767"/>
            <a:ext cx="3156049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RENDERED OUTPUT</a:t>
            </a:r>
            <a:endParaRPr/>
          </a:p>
        </p:txBody>
      </p:sp>
      <p:sp>
        <p:nvSpPr>
          <p:cNvPr id="332" name="Google Shape;332;p19"/>
          <p:cNvSpPr/>
          <p:nvPr/>
        </p:nvSpPr>
        <p:spPr>
          <a:xfrm>
            <a:off x="8026300" y="1515367"/>
            <a:ext cx="3441799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3" name="Google Shape;333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66775" y="1305817"/>
            <a:ext cx="109537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1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4517975" y="1305817"/>
            <a:ext cx="109537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1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69175" y="1305817"/>
            <a:ext cx="109537" cy="104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6" name="Google Shape;336;p1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2344638" y="3537049"/>
            <a:ext cx="2000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9"/>
          <p:cNvSpPr txBox="1"/>
          <p:nvPr/>
        </p:nvSpPr>
        <p:spPr>
          <a:xfrm>
            <a:off x="1684555" y="3918049"/>
            <a:ext cx="152019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Drag-&amp;-Drop Screen</a:t>
            </a:r>
            <a:endParaRPr/>
          </a:p>
        </p:txBody>
      </p:sp>
      <p:sp>
        <p:nvSpPr>
          <p:cNvPr id="338" name="Google Shape;338;p19"/>
          <p:cNvSpPr txBox="1"/>
          <p:nvPr/>
        </p:nvSpPr>
        <p:spPr>
          <a:xfrm>
            <a:off x="1530250" y="4165699"/>
            <a:ext cx="1828800" cy="14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Replace with  of file upload interface.</a:t>
            </a:r>
            <a:endParaRPr/>
          </a:p>
        </p:txBody>
      </p:sp>
      <p:pic>
        <p:nvPicPr>
          <p:cNvPr descr="image.png" id="339" name="Google Shape;339;p1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5929163" y="3537049"/>
            <a:ext cx="33337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19"/>
          <p:cNvSpPr txBox="1"/>
          <p:nvPr/>
        </p:nvSpPr>
        <p:spPr>
          <a:xfrm>
            <a:off x="5245744" y="3918049"/>
            <a:ext cx="170021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Editing Timeline Screen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4981426" y="4165699"/>
            <a:ext cx="2228850" cy="14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Replace with  of transcript side-by-side view.</a:t>
            </a:r>
            <a:endParaRPr/>
          </a:p>
        </p:txBody>
      </p:sp>
      <p:pic>
        <p:nvPicPr>
          <p:cNvPr descr="image.png" id="342" name="Google Shape;342;p19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9613850" y="3537049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19"/>
          <p:cNvSpPr txBox="1"/>
          <p:nvPr/>
        </p:nvSpPr>
        <p:spPr>
          <a:xfrm>
            <a:off x="9032111" y="3918049"/>
            <a:ext cx="1430178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Final Preview Player</a:t>
            </a:r>
            <a:endParaRPr/>
          </a:p>
        </p:txBody>
      </p:sp>
      <p:sp>
        <p:nvSpPr>
          <p:cNvPr id="344" name="Google Shape;344;p19"/>
          <p:cNvSpPr txBox="1"/>
          <p:nvPr/>
        </p:nvSpPr>
        <p:spPr>
          <a:xfrm>
            <a:off x="8794700" y="4165699"/>
            <a:ext cx="1905000" cy="14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Replace with  of final translated player.</a:t>
            </a:r>
            <a:endParaRPr/>
          </a:p>
        </p:txBody>
      </p:sp>
      <p:sp>
        <p:nvSpPr>
          <p:cNvPr id="345" name="Google Shape;345;p19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CORE APPLICATION INTERFACES</a:t>
            </a:r>
            <a:endParaRPr/>
          </a:p>
        </p:txBody>
      </p:sp>
      <p:sp>
        <p:nvSpPr>
          <p:cNvPr id="346" name="Google Shape;346;p19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1" name="Google Shape;35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0"/>
          <p:cNvSpPr/>
          <p:nvPr/>
        </p:nvSpPr>
        <p:spPr>
          <a:xfrm>
            <a:off x="714375" y="2905571"/>
            <a:ext cx="107632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0"/>
          <p:cNvSpPr/>
          <p:nvPr/>
        </p:nvSpPr>
        <p:spPr>
          <a:xfrm>
            <a:off x="714375" y="3667571"/>
            <a:ext cx="107632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714375" y="3667571"/>
            <a:ext cx="107632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55" name="Google Shape;35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375" y="304844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20"/>
          <p:cNvSpPr txBox="1"/>
          <p:nvPr/>
        </p:nvSpPr>
        <p:spPr>
          <a:xfrm>
            <a:off x="1809750" y="3055590"/>
            <a:ext cx="966787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https://images.splitshire.com/full/Ramu-the-Farmer:-A-Kid-Friendly-Animated-Village-Morning_Prre3.png</a:t>
            </a:r>
            <a:endParaRPr/>
          </a:p>
        </p:txBody>
      </p:sp>
      <p:sp>
        <p:nvSpPr>
          <p:cNvPr id="357" name="Google Shape;357;p20"/>
          <p:cNvSpPr txBox="1"/>
          <p:nvPr/>
        </p:nvSpPr>
        <p:spPr>
          <a:xfrm>
            <a:off x="1809750" y="3288952"/>
            <a:ext cx="9667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www.splitshire.com</a:t>
            </a:r>
            <a:endParaRPr/>
          </a:p>
        </p:txBody>
      </p:sp>
      <p:pic>
        <p:nvPicPr>
          <p:cNvPr descr="image.png" id="358" name="Google Shape;35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" y="390569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20"/>
          <p:cNvSpPr txBox="1"/>
          <p:nvPr/>
        </p:nvSpPr>
        <p:spPr>
          <a:xfrm>
            <a:off x="1809750" y="3819971"/>
            <a:ext cx="966787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https://media.istockphoto.com/id/163018495/photo/real-people-from-rural-india-peasant-family-using-mobile-phone.jpg?s=612x612&amp;w=0&amp;k=20&amp;c=Jwb9y49Z320y6t9j26TleVLNapJBq2uNsQcrA85KWCA=</a:t>
            </a:r>
            <a:endParaRPr/>
          </a:p>
        </p:txBody>
      </p:sp>
      <p:sp>
        <p:nvSpPr>
          <p:cNvPr id="360" name="Google Shape;360;p20"/>
          <p:cNvSpPr txBox="1"/>
          <p:nvPr/>
        </p:nvSpPr>
        <p:spPr>
          <a:xfrm>
            <a:off x="1809750" y="4239071"/>
            <a:ext cx="9667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www.istockphoto.com</a:t>
            </a:r>
            <a:endParaRPr/>
          </a:p>
        </p:txBody>
      </p:sp>
      <p:sp>
        <p:nvSpPr>
          <p:cNvPr id="361" name="Google Shape;361;p20"/>
          <p:cNvSpPr txBox="1"/>
          <p:nvPr/>
        </p:nvSpPr>
        <p:spPr>
          <a:xfrm>
            <a:off x="857250" y="523875"/>
            <a:ext cx="11151393" cy="372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02D62"/>
                </a:solidFill>
                <a:latin typeface="Poppins"/>
                <a:ea typeface="Poppins"/>
                <a:cs typeface="Poppins"/>
                <a:sym typeface="Poppins"/>
              </a:rPr>
              <a:t>IMAGE SOURCES</a:t>
            </a:r>
            <a:endParaRPr/>
          </a:p>
        </p:txBody>
      </p:sp>
      <p:sp>
        <p:nvSpPr>
          <p:cNvPr id="362" name="Google Shape;362;p20"/>
          <p:cNvSpPr/>
          <p:nvPr/>
        </p:nvSpPr>
        <p:spPr>
          <a:xfrm>
            <a:off x="714375" y="523875"/>
            <a:ext cx="57150" cy="372367"/>
          </a:xfrm>
          <a:prstGeom prst="rect">
            <a:avLst/>
          </a:prstGeom>
          <a:solidFill>
            <a:srgbClr val="DB12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