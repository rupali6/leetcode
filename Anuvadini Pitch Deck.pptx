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Poppins ExtraBold"/>
      <p:bold r:id="rId25"/>
      <p:boldItalic r:id="rId26"/>
    </p:embeddedFont>
    <p:embeddedFont>
      <p:font typeface="Inter Medium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BF08EA-F2A3-4D98-BEE9-4FE9FCEB9476}">
  <a:tblStyle styleId="{BABF08EA-F2A3-4D98-BEE9-4FE9FCEB947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ExtraBold-boldItalic.fntdata"/><Relationship Id="rId25" Type="http://schemas.openxmlformats.org/officeDocument/2006/relationships/font" Target="fonts/PoppinsExtraBold-bold.fntdata"/><Relationship Id="rId28" Type="http://schemas.openxmlformats.org/officeDocument/2006/relationships/font" Target="fonts/InterMedium-bold.fntdata"/><Relationship Id="rId27" Type="http://schemas.openxmlformats.org/officeDocument/2006/relationships/font" Target="fonts/InterMedium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Medium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InterMedium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6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-regular.fntdata"/><Relationship Id="rId16" Type="http://schemas.openxmlformats.org/officeDocument/2006/relationships/font" Target="fonts/InterSemiBold-boldItalic.fntdata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9.png"/><Relationship Id="rId4" Type="http://schemas.openxmlformats.org/officeDocument/2006/relationships/image" Target="../media/image14.png"/><Relationship Id="rId10" Type="http://schemas.openxmlformats.org/officeDocument/2006/relationships/image" Target="../media/image11.png"/><Relationship Id="rId9" Type="http://schemas.openxmlformats.org/officeDocument/2006/relationships/image" Target="../media/image9.png"/><Relationship Id="rId5" Type="http://schemas.openxmlformats.org/officeDocument/2006/relationships/image" Target="../media/image2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15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8.png"/><Relationship Id="rId13" Type="http://schemas.openxmlformats.org/officeDocument/2006/relationships/image" Target="../media/image3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.png"/><Relationship Id="rId7" Type="http://schemas.openxmlformats.org/officeDocument/2006/relationships/image" Target="../media/image19.png"/><Relationship Id="rId8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20" Type="http://schemas.openxmlformats.org/officeDocument/2006/relationships/image" Target="../media/image32.png"/><Relationship Id="rId22" Type="http://schemas.openxmlformats.org/officeDocument/2006/relationships/image" Target="../media/image34.png"/><Relationship Id="rId21" Type="http://schemas.openxmlformats.org/officeDocument/2006/relationships/image" Target="../media/image33.png"/><Relationship Id="rId24" Type="http://schemas.openxmlformats.org/officeDocument/2006/relationships/image" Target="../media/image36.png"/><Relationship Id="rId23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4.png"/><Relationship Id="rId4" Type="http://schemas.openxmlformats.org/officeDocument/2006/relationships/image" Target="../media/image21.png"/><Relationship Id="rId9" Type="http://schemas.openxmlformats.org/officeDocument/2006/relationships/image" Target="../media/image20.png"/><Relationship Id="rId26" Type="http://schemas.openxmlformats.org/officeDocument/2006/relationships/image" Target="../media/image46.png"/><Relationship Id="rId25" Type="http://schemas.openxmlformats.org/officeDocument/2006/relationships/image" Target="../media/image42.png"/><Relationship Id="rId28" Type="http://schemas.openxmlformats.org/officeDocument/2006/relationships/image" Target="../media/image45.png"/><Relationship Id="rId27" Type="http://schemas.openxmlformats.org/officeDocument/2006/relationships/image" Target="../media/image38.png"/><Relationship Id="rId5" Type="http://schemas.openxmlformats.org/officeDocument/2006/relationships/image" Target="../media/image16.png"/><Relationship Id="rId6" Type="http://schemas.openxmlformats.org/officeDocument/2006/relationships/image" Target="../media/image28.png"/><Relationship Id="rId29" Type="http://schemas.openxmlformats.org/officeDocument/2006/relationships/image" Target="../media/image41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30" Type="http://schemas.openxmlformats.org/officeDocument/2006/relationships/image" Target="../media/image43.png"/><Relationship Id="rId11" Type="http://schemas.openxmlformats.org/officeDocument/2006/relationships/image" Target="../media/image27.png"/><Relationship Id="rId10" Type="http://schemas.openxmlformats.org/officeDocument/2006/relationships/image" Target="../media/image26.png"/><Relationship Id="rId13" Type="http://schemas.openxmlformats.org/officeDocument/2006/relationships/image" Target="../media/image25.png"/><Relationship Id="rId12" Type="http://schemas.openxmlformats.org/officeDocument/2006/relationships/image" Target="../media/image22.png"/><Relationship Id="rId15" Type="http://schemas.openxmlformats.org/officeDocument/2006/relationships/image" Target="../media/image63.png"/><Relationship Id="rId14" Type="http://schemas.openxmlformats.org/officeDocument/2006/relationships/image" Target="../media/image29.png"/><Relationship Id="rId17" Type="http://schemas.openxmlformats.org/officeDocument/2006/relationships/image" Target="../media/image39.png"/><Relationship Id="rId16" Type="http://schemas.openxmlformats.org/officeDocument/2006/relationships/image" Target="../media/image31.png"/><Relationship Id="rId19" Type="http://schemas.openxmlformats.org/officeDocument/2006/relationships/image" Target="../media/image37.png"/><Relationship Id="rId18" Type="http://schemas.openxmlformats.org/officeDocument/2006/relationships/image" Target="../media/image3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40.png"/><Relationship Id="rId9" Type="http://schemas.openxmlformats.org/officeDocument/2006/relationships/image" Target="../media/image68.png"/><Relationship Id="rId5" Type="http://schemas.openxmlformats.org/officeDocument/2006/relationships/image" Target="../media/image47.png"/><Relationship Id="rId6" Type="http://schemas.openxmlformats.org/officeDocument/2006/relationships/image" Target="../media/image44.png"/><Relationship Id="rId7" Type="http://schemas.openxmlformats.org/officeDocument/2006/relationships/image" Target="../media/image51.png"/><Relationship Id="rId8" Type="http://schemas.openxmlformats.org/officeDocument/2006/relationships/image" Target="../media/image50.png"/><Relationship Id="rId11" Type="http://schemas.openxmlformats.org/officeDocument/2006/relationships/image" Target="../media/image55.png"/><Relationship Id="rId10" Type="http://schemas.openxmlformats.org/officeDocument/2006/relationships/image" Target="../media/image49.png"/><Relationship Id="rId12" Type="http://schemas.openxmlformats.org/officeDocument/2006/relationships/image" Target="../media/image6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7.png"/><Relationship Id="rId4" Type="http://schemas.openxmlformats.org/officeDocument/2006/relationships/image" Target="../media/image53.png"/><Relationship Id="rId9" Type="http://schemas.openxmlformats.org/officeDocument/2006/relationships/image" Target="../media/image57.png"/><Relationship Id="rId5" Type="http://schemas.openxmlformats.org/officeDocument/2006/relationships/image" Target="../media/image48.png"/><Relationship Id="rId6" Type="http://schemas.openxmlformats.org/officeDocument/2006/relationships/image" Target="../media/image61.png"/><Relationship Id="rId7" Type="http://schemas.openxmlformats.org/officeDocument/2006/relationships/image" Target="../media/image56.png"/><Relationship Id="rId8" Type="http://schemas.openxmlformats.org/officeDocument/2006/relationships/image" Target="../media/image60.png"/><Relationship Id="rId11" Type="http://schemas.openxmlformats.org/officeDocument/2006/relationships/image" Target="../media/image59.png"/><Relationship Id="rId10" Type="http://schemas.openxmlformats.org/officeDocument/2006/relationships/image" Target="../media/image58.png"/><Relationship Id="rId13" Type="http://schemas.openxmlformats.org/officeDocument/2006/relationships/image" Target="../media/image66.png"/><Relationship Id="rId12" Type="http://schemas.openxmlformats.org/officeDocument/2006/relationships/image" Target="../media/image52.png"/><Relationship Id="rId15" Type="http://schemas.openxmlformats.org/officeDocument/2006/relationships/image" Target="../media/image54.png"/><Relationship Id="rId14" Type="http://schemas.openxmlformats.org/officeDocument/2006/relationships/image" Target="../media/image6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38512" y="4809083"/>
            <a:ext cx="151447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95862" y="4809083"/>
            <a:ext cx="19240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62787" y="4809083"/>
            <a:ext cx="17907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4375" y="542925"/>
            <a:ext cx="666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15625" y="523875"/>
            <a:ext cx="762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4283868" y="2734567"/>
            <a:ext cx="36242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DB121A"/>
                </a:solidFill>
                <a:latin typeface="Inter"/>
                <a:ea typeface="Inter"/>
                <a:cs typeface="Inter"/>
                <a:sym typeface="Inter"/>
              </a:rPr>
              <a:t>HSBC × BAIF HACKATHON DELIVERABLE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4505801" y="3029842"/>
            <a:ext cx="3180397" cy="712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00" u="none" cap="none" strike="noStrike">
                <a:solidFill>
                  <a:srgbClr val="002D62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अनुवादिनी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2047875" y="3932783"/>
            <a:ext cx="809625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Breaking language barriers in rural India. A comprehensive, offline localization engine translating text, audio, and video manuals instantly.</a:t>
            </a:r>
            <a:endParaRPr/>
          </a:p>
        </p:txBody>
      </p:sp>
      <p:pic>
        <p:nvPicPr>
          <p:cNvPr descr="image.png" id="93" name="Google Shape;93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195887" y="4928145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262812" y="4928145"/>
            <a:ext cx="95250" cy="12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42190" y="381000"/>
            <a:ext cx="1335434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2057846"/>
            <a:ext cx="4943921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39296" y="2057846"/>
            <a:ext cx="5438328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/>
          <p:nvPr/>
        </p:nvSpPr>
        <p:spPr>
          <a:xfrm>
            <a:off x="10266015" y="457200"/>
            <a:ext cx="57150" cy="57150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1295400" y="2353121"/>
            <a:ext cx="4067621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B121A"/>
                </a:solidFill>
                <a:latin typeface="Inter"/>
                <a:ea typeface="Inter"/>
                <a:cs typeface="Inter"/>
                <a:sym typeface="Inter"/>
              </a:rPr>
              <a:t>The Rural Reality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20321" y="2353121"/>
            <a:ext cx="45620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What BAIF Needed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9650" y="2372171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276350" y="2772221"/>
            <a:ext cx="40866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Network Disconnection: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Internet is highly unreliable or non-existent in active sub-districts and field schools.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1276350" y="3286571"/>
            <a:ext cx="4086671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Restrictive API Overhead: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Standard cloud API models (OpenAI, DeepL) incur compounding transaction and subscription fees.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76350" y="3800921"/>
            <a:ext cx="4086671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Tool Fragmentation: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Translating instruction kits currently requires separate, disjointed software for transcription and subtitling.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1276350" y="4515296"/>
            <a:ext cx="4086671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 Exposure Risks: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Proprietary training materials and instruction intellectual property are exposed to third-party translation servers.</a:t>
            </a:r>
            <a:endParaRPr/>
          </a:p>
        </p:txBody>
      </p:sp>
      <p:pic>
        <p:nvPicPr>
          <p:cNvPr descr="image.png" id="111" name="Google Shape;111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34571" y="2372171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4"/>
          <p:cNvSpPr txBox="1"/>
          <p:nvPr/>
        </p:nvSpPr>
        <p:spPr>
          <a:xfrm>
            <a:off x="6601271" y="2772221"/>
            <a:ext cx="458107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100% Offline Execution: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Zero active external internet ping needed during media processing.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6601271" y="3286571"/>
            <a:ext cx="458107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Multi-Format Support: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Integrated transcriptions, synthetic voiceovers, and subtitles in one place.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6601271" y="3800921"/>
            <a:ext cx="458107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Intel CPU Optimization: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Capable of performing ASR, NMT, and TTS loops on local, low-spec infrastructure.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6601271" y="4315271"/>
            <a:ext cx="4581078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Regional Preservation:</a:t>
            </a:r>
            <a:r>
              <a:rPr b="0" i="0" lang="en-US" sz="1050" u="none" cap="none" strike="noStrike">
                <a:solidFill>
                  <a:srgbClr val="334155"/>
                </a:solidFill>
                <a:latin typeface="Inter Medium"/>
                <a:ea typeface="Inter Medium"/>
                <a:cs typeface="Inter Medium"/>
                <a:sym typeface="Inter Medium"/>
              </a:rPr>
              <a:t> Grammar translation models specialized for organic Hindi and Marathi phrasing.</a:t>
            </a:r>
            <a:endParaRPr/>
          </a:p>
        </p:txBody>
      </p:sp>
      <p:pic>
        <p:nvPicPr>
          <p:cNvPr descr="image.png" id="116" name="Google Shape;11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009650" y="279127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9650" y="330562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9650" y="3819971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09650" y="4534346"/>
            <a:ext cx="1524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34571" y="279127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34571" y="330562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34571" y="3819971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334571" y="4334321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4"/>
          <p:cNvSpPr txBox="1"/>
          <p:nvPr/>
        </p:nvSpPr>
        <p:spPr>
          <a:xfrm>
            <a:off x="857250" y="523875"/>
            <a:ext cx="11151393" cy="372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THE FIELD CHALLENGE VS BAIF NEEDS</a:t>
            </a:r>
            <a:endParaRPr/>
          </a:p>
        </p:txBody>
      </p:sp>
      <p:sp>
        <p:nvSpPr>
          <p:cNvPr id="125" name="Google Shape;125;p14"/>
          <p:cNvSpPr/>
          <p:nvPr/>
        </p:nvSpPr>
        <p:spPr>
          <a:xfrm>
            <a:off x="714375" y="523875"/>
            <a:ext cx="57150" cy="372367"/>
          </a:xfrm>
          <a:prstGeom prst="rect">
            <a:avLst/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16455" y="381000"/>
            <a:ext cx="1261169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4632721"/>
            <a:ext cx="107632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48225" y="4775596"/>
            <a:ext cx="12001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91250" y="4775596"/>
            <a:ext cx="9429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77100" y="4775596"/>
            <a:ext cx="10001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4775596"/>
            <a:ext cx="8286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91650" y="4775596"/>
            <a:ext cx="7905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325100" y="4775596"/>
            <a:ext cx="8667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252537" y="2892921"/>
            <a:ext cx="9686925" cy="3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5"/>
          <p:cNvSpPr/>
          <p:nvPr/>
        </p:nvSpPr>
        <p:spPr>
          <a:xfrm>
            <a:off x="10340280" y="457200"/>
            <a:ext cx="57150" cy="57150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 txBox="1"/>
          <p:nvPr/>
        </p:nvSpPr>
        <p:spPr>
          <a:xfrm>
            <a:off x="1000125" y="4818459"/>
            <a:ext cx="286702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CORE OPEN-SOURCE ARCHITECTURE STACK</a:t>
            </a:r>
            <a:endParaRPr/>
          </a:p>
        </p:txBody>
      </p:sp>
      <p:pic>
        <p:nvPicPr>
          <p:cNvPr descr="image.png" id="142" name="Google Shape;142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40618" y="251192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5"/>
          <p:cNvSpPr txBox="1"/>
          <p:nvPr/>
        </p:nvSpPr>
        <p:spPr>
          <a:xfrm>
            <a:off x="1321593" y="3416796"/>
            <a:ext cx="40005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STEP 1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1146571" y="3597771"/>
            <a:ext cx="750093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File Ingest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714375" y="3815655"/>
            <a:ext cx="1614487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Unified .mp4, .mov, .mp3, .wav, &amp; .txt up to 2 GB</a:t>
            </a:r>
            <a:endParaRPr/>
          </a:p>
        </p:txBody>
      </p:sp>
      <p:pic>
        <p:nvPicPr>
          <p:cNvPr descr="image.png" id="146" name="Google Shape;146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970311" y="251192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5"/>
          <p:cNvSpPr txBox="1"/>
          <p:nvPr/>
        </p:nvSpPr>
        <p:spPr>
          <a:xfrm>
            <a:off x="3141761" y="3416796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STEP 2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2896254" y="3597771"/>
            <a:ext cx="910113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Whisper ASR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2544067" y="3815655"/>
            <a:ext cx="1614487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Faster-Whisper processes waves on a local CPU loop</a:t>
            </a:r>
            <a:endParaRPr/>
          </a:p>
        </p:txBody>
      </p:sp>
      <p:pic>
        <p:nvPicPr>
          <p:cNvPr descr="image.png" id="150" name="Google Shape;150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4800004" y="251192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5"/>
          <p:cNvSpPr txBox="1"/>
          <p:nvPr/>
        </p:nvSpPr>
        <p:spPr>
          <a:xfrm>
            <a:off x="4971454" y="3416796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STEP 3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4825960" y="3597771"/>
            <a:ext cx="710088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LID Check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4373760" y="3815655"/>
            <a:ext cx="1614487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Automatic source language identification</a:t>
            </a:r>
            <a:endParaRPr/>
          </a:p>
        </p:txBody>
      </p:sp>
      <p:pic>
        <p:nvPicPr>
          <p:cNvPr descr="image.png" id="154" name="Google Shape;154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629697" y="251192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5"/>
          <p:cNvSpPr txBox="1"/>
          <p:nvPr/>
        </p:nvSpPr>
        <p:spPr>
          <a:xfrm>
            <a:off x="6801147" y="3416796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STEP 4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6670655" y="3597771"/>
            <a:ext cx="680085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NLLB NMT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6203453" y="3815655"/>
            <a:ext cx="1614487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Full-context translation to Marathi and Hindi</a:t>
            </a:r>
            <a:endParaRPr/>
          </a:p>
        </p:txBody>
      </p:sp>
      <p:pic>
        <p:nvPicPr>
          <p:cNvPr descr="image.png" id="158" name="Google Shape;158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459390" y="251192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5"/>
          <p:cNvSpPr txBox="1"/>
          <p:nvPr/>
        </p:nvSpPr>
        <p:spPr>
          <a:xfrm>
            <a:off x="8630840" y="3416796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STEP 5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8410336" y="3597771"/>
            <a:ext cx="860107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eSpeak TTS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8033146" y="3815655"/>
            <a:ext cx="1614487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Synthesizes audio tracks matching timestamps</a:t>
            </a:r>
            <a:endParaRPr/>
          </a:p>
        </p:txBody>
      </p:sp>
      <p:pic>
        <p:nvPicPr>
          <p:cNvPr descr="image.png" id="162" name="Google Shape;162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0289083" y="251192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 txBox="1"/>
          <p:nvPr/>
        </p:nvSpPr>
        <p:spPr>
          <a:xfrm>
            <a:off x="10460533" y="3416796"/>
            <a:ext cx="4191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STEP 6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10195024" y="3597771"/>
            <a:ext cx="950118" cy="1607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12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FFmpeg Burn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9862839" y="3815655"/>
            <a:ext cx="1614487" cy="293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Multiplexes vocal track &amp; styled ASS captions</a:t>
            </a:r>
            <a:endParaRPr/>
          </a:p>
        </p:txBody>
      </p:sp>
      <p:pic>
        <p:nvPicPr>
          <p:cNvPr descr="image.png" id="166" name="Google Shape;166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397793" y="2769096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3256061" y="2769096"/>
            <a:ext cx="1905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15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5057179" y="2769096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5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6853535" y="2769096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5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8683228" y="2769096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5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10546258" y="2769096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5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972050" y="4837509"/>
            <a:ext cx="10477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5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6315075" y="4837509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5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400925" y="4837509"/>
            <a:ext cx="13335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5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8543925" y="4837509"/>
            <a:ext cx="11430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5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9515475" y="4837509"/>
            <a:ext cx="104775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5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10448925" y="4837509"/>
            <a:ext cx="104775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5"/>
          <p:cNvSpPr txBox="1"/>
          <p:nvPr/>
        </p:nvSpPr>
        <p:spPr>
          <a:xfrm>
            <a:off x="857250" y="523875"/>
            <a:ext cx="11151393" cy="372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SOLUTION ARCHITECTURE</a:t>
            </a: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714375" y="523875"/>
            <a:ext cx="57150" cy="372367"/>
          </a:xfrm>
          <a:prstGeom prst="rect">
            <a:avLst/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65965" y="381000"/>
            <a:ext cx="1611659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6" name="Google Shape;18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1828353"/>
            <a:ext cx="10763250" cy="381163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6"/>
          <p:cNvSpPr/>
          <p:nvPr/>
        </p:nvSpPr>
        <p:spPr>
          <a:xfrm>
            <a:off x="9989790" y="457200"/>
            <a:ext cx="57150" cy="57150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8" name="Google Shape;188;p16"/>
          <p:cNvGraphicFramePr/>
          <p:nvPr/>
        </p:nvGraphicFramePr>
        <p:xfrm>
          <a:off x="723900" y="183787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{BABF08EA-F2A3-4D98-BEE9-4FE9FCEB9476}</a:tableStyleId>
              </a:tblPr>
              <a:tblGrid>
                <a:gridCol w="2686050"/>
                <a:gridCol w="8058150"/>
              </a:tblGrid>
              <a:tr h="47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Evaluation Pillar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012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Our Implementation Strength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2D62"/>
                    </a:solidFill>
                  </a:tcPr>
                </a:tc>
              </a:tr>
              <a:tr h="47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🌍 Impact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Enables critical, direct, and multi-dialect educational manuals to easily reach rural Hindi- and Marathi-speaking agricultural communities.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📈 Scalability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Modular FastAPI core prepared to integrate chunk-based long video parsing and parallel inference pipelines without modifying core services.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🏭 Readiness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Handles automated CPU safety fallbacks, large files up to 2 GB, and cross-platform processing for Windows, macOS, and Linux out-of-the-box.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🎨 Usability / UX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Clean, drag-and-drop Streamlit UI. Offers instantaneous translation preview panels, dynamic subtitle track editing, and single-click outputs.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🔒 Safety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100% offline local processing. Absolutely zero user inputs, transcripts, or field manuals leave your local corporate networks.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🤝 Inclusivity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Ensures robust accessibility through visual (dynamic subtitles) and auditory (AI voice overlays) regional language generation.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4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💰 Zero Cost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37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Built strictly upon open-source model weights. Completely free of perpetual licensing overhead or recurring cloud subscription bills.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9" name="Google Shape;189;p16"/>
          <p:cNvSpPr/>
          <p:nvPr/>
        </p:nvSpPr>
        <p:spPr>
          <a:xfrm>
            <a:off x="723900" y="2757041"/>
            <a:ext cx="2686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6"/>
          <p:cNvSpPr/>
          <p:nvPr/>
        </p:nvSpPr>
        <p:spPr>
          <a:xfrm>
            <a:off x="3409950" y="2757041"/>
            <a:ext cx="8058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723900" y="3309491"/>
            <a:ext cx="2686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/>
          <p:nvPr/>
        </p:nvSpPr>
        <p:spPr>
          <a:xfrm>
            <a:off x="3409950" y="3309491"/>
            <a:ext cx="8058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723900" y="3861941"/>
            <a:ext cx="2686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3409950" y="3861941"/>
            <a:ext cx="8058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6"/>
          <p:cNvSpPr/>
          <p:nvPr/>
        </p:nvSpPr>
        <p:spPr>
          <a:xfrm>
            <a:off x="723900" y="4414391"/>
            <a:ext cx="2686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/>
          <p:nvPr/>
        </p:nvSpPr>
        <p:spPr>
          <a:xfrm>
            <a:off x="3409950" y="4414391"/>
            <a:ext cx="8058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723900" y="4818161"/>
            <a:ext cx="2686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6"/>
          <p:cNvSpPr/>
          <p:nvPr/>
        </p:nvSpPr>
        <p:spPr>
          <a:xfrm>
            <a:off x="3409950" y="4818161"/>
            <a:ext cx="8058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723900" y="5221932"/>
            <a:ext cx="26860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3409950" y="5221932"/>
            <a:ext cx="80581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1" name="Google Shape;20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2397918"/>
            <a:ext cx="752475" cy="18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2950368"/>
            <a:ext cx="1028700" cy="18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3502818"/>
            <a:ext cx="942975" cy="18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4055268"/>
            <a:ext cx="1143000" cy="18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4533453"/>
            <a:ext cx="762000" cy="18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14400" y="4937224"/>
            <a:ext cx="1009650" cy="1846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14400" y="5340994"/>
            <a:ext cx="942975" cy="18469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6"/>
          <p:cNvSpPr txBox="1"/>
          <p:nvPr/>
        </p:nvSpPr>
        <p:spPr>
          <a:xfrm>
            <a:off x="857250" y="523875"/>
            <a:ext cx="11151393" cy="372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HOW IT MEETS EVALUATION PILLARS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714375" y="523875"/>
            <a:ext cx="57150" cy="372367"/>
          </a:xfrm>
          <a:prstGeom prst="rect">
            <a:avLst/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18390" y="381000"/>
            <a:ext cx="1259234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4375" y="2696021"/>
            <a:ext cx="5662910" cy="207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8285" y="1924496"/>
            <a:ext cx="4719339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7810" y="1934021"/>
            <a:ext cx="4700289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67810" y="2324546"/>
            <a:ext cx="4700289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238976" y="2029271"/>
            <a:ext cx="3076723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58310" y="2515046"/>
            <a:ext cx="4319289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958310" y="4086671"/>
            <a:ext cx="4319289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053560" y="3553271"/>
            <a:ext cx="4128789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7"/>
          <p:cNvSpPr/>
          <p:nvPr/>
        </p:nvSpPr>
        <p:spPr>
          <a:xfrm>
            <a:off x="10342215" y="457200"/>
            <a:ext cx="57150" cy="57150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1190625" y="2943671"/>
            <a:ext cx="2298055" cy="178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Full-Context Translation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3831580" y="2943671"/>
            <a:ext cx="2298055" cy="178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Subtitle Speed Sync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1190625" y="3236565"/>
            <a:ext cx="2298055" cy="178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ASS Subtitle Scaling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3831580" y="3236565"/>
            <a:ext cx="2298055" cy="178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Portrait/Landscape Support</a:t>
            </a:r>
            <a:endParaRPr/>
          </a:p>
        </p:txBody>
      </p:sp>
      <p:sp>
        <p:nvSpPr>
          <p:cNvPr id="229" name="Google Shape;229;p17"/>
          <p:cNvSpPr txBox="1"/>
          <p:nvPr/>
        </p:nvSpPr>
        <p:spPr>
          <a:xfrm>
            <a:off x="1190625" y="3529458"/>
            <a:ext cx="2298055" cy="178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Devanagari Font Bundling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3831580" y="3529458"/>
            <a:ext cx="2298055" cy="178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37" u="none" cap="none" strike="noStrike">
                <a:solidFill>
                  <a:srgbClr val="1E293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 GB Streamlit Uploads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1143000" y="3946177"/>
            <a:ext cx="4986635" cy="578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012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"अनुवादिनी transforms multilingual educational content into accessible, localized, and practical knowledge—anytime, anywhere, completely independent of the internet."</a:t>
            </a:r>
            <a:endParaRPr/>
          </a:p>
        </p:txBody>
      </p:sp>
      <p:sp>
        <p:nvSpPr>
          <p:cNvPr id="232" name="Google Shape;232;p17"/>
          <p:cNvSpPr txBox="1"/>
          <p:nvPr/>
        </p:nvSpPr>
        <p:spPr>
          <a:xfrm>
            <a:off x="6920210" y="2067371"/>
            <a:ext cx="1000125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Translation Viewer</a:t>
            </a:r>
            <a:endParaRPr/>
          </a:p>
        </p:txBody>
      </p:sp>
      <p:pic>
        <p:nvPicPr>
          <p:cNvPr descr="image.png" id="233" name="Google Shape;233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6920210" y="2076896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17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958310" y="2515046"/>
            <a:ext cx="4319289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7"/>
          <p:cNvSpPr txBox="1"/>
          <p:nvPr/>
        </p:nvSpPr>
        <p:spPr>
          <a:xfrm>
            <a:off x="7082135" y="4220021"/>
            <a:ext cx="169545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002D62"/>
                </a:solidFill>
                <a:latin typeface="Inter"/>
                <a:ea typeface="Inter"/>
                <a:cs typeface="Inter"/>
                <a:sym typeface="Inter"/>
              </a:rPr>
              <a:t>eSpeak Synthesis Overlay (Marathi)</a:t>
            </a:r>
            <a:endParaRPr/>
          </a:p>
        </p:txBody>
      </p:sp>
      <p:pic>
        <p:nvPicPr>
          <p:cNvPr descr="image.png" id="236" name="Google Shape;236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62025" y="296153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602980" y="2961530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62025" y="3254424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602980" y="3254424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962025" y="3547318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17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3602980" y="3547318"/>
            <a:ext cx="133350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17"/>
          <p:cNvSpPr/>
          <p:nvPr/>
        </p:nvSpPr>
        <p:spPr>
          <a:xfrm>
            <a:off x="10887075" y="4229546"/>
            <a:ext cx="28575" cy="95250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10934700" y="4191446"/>
            <a:ext cx="28575" cy="171450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10982325" y="4158108"/>
            <a:ext cx="28575" cy="238125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/>
          <p:nvPr/>
        </p:nvSpPr>
        <p:spPr>
          <a:xfrm>
            <a:off x="11029950" y="4205733"/>
            <a:ext cx="28575" cy="142875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11077575" y="4172396"/>
            <a:ext cx="28575" cy="209550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11125200" y="4239071"/>
            <a:ext cx="28575" cy="76200"/>
          </a:xfrm>
          <a:prstGeom prst="roundRect">
            <a:avLst>
              <a:gd fmla="val 50000" name="adj"/>
            </a:avLst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 txBox="1"/>
          <p:nvPr/>
        </p:nvSpPr>
        <p:spPr>
          <a:xfrm>
            <a:off x="857250" y="523875"/>
            <a:ext cx="11151393" cy="372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CORE TECHNICAL EDGE &amp; LIVE DEMO</a:t>
            </a:r>
            <a:endParaRPr/>
          </a:p>
        </p:txBody>
      </p:sp>
      <p:sp>
        <p:nvSpPr>
          <p:cNvPr id="249" name="Google Shape;249;p17"/>
          <p:cNvSpPr/>
          <p:nvPr/>
        </p:nvSpPr>
        <p:spPr>
          <a:xfrm>
            <a:off x="714375" y="523875"/>
            <a:ext cx="57150" cy="372367"/>
          </a:xfrm>
          <a:prstGeom prst="rect">
            <a:avLst/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4375" y="349612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8"/>
          <p:cNvSpPr txBox="1"/>
          <p:nvPr/>
        </p:nvSpPr>
        <p:spPr>
          <a:xfrm>
            <a:off x="1809750" y="3503265"/>
            <a:ext cx="966787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https://images.splitshire.com/full/Ramu-the-Farmer:-A-Kid-Friendly-Animated-Village-Morning_Prre3.png</a:t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1809750" y="3736627"/>
            <a:ext cx="966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www.splitshire.com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857250" y="523875"/>
            <a:ext cx="11151393" cy="372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4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2D62"/>
                </a:solidFill>
                <a:latin typeface="Poppins"/>
                <a:ea typeface="Poppins"/>
                <a:cs typeface="Poppins"/>
                <a:sym typeface="Poppins"/>
              </a:rPr>
              <a:t>IMAGE SOURCES</a:t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714375" y="523875"/>
            <a:ext cx="57150" cy="372367"/>
          </a:xfrm>
          <a:prstGeom prst="rect">
            <a:avLst/>
          </a:prstGeom>
          <a:solidFill>
            <a:srgbClr val="DB121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