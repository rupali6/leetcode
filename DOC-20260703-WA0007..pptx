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Inter SemiBold"/>
      <p:regular r:id="rId13"/>
      <p:bold r:id="rId14"/>
      <p:italic r:id="rId15"/>
      <p:boldItalic r:id="rId16"/>
    </p:embeddedFont>
    <p:embeddedFont>
      <p:font typeface="Inter"/>
      <p:regular r:id="rId17"/>
      <p:bold r:id="rId18"/>
      <p:italic r:id="rId19"/>
      <p:boldItalic r:id="rId20"/>
    </p:embeddedFont>
    <p:embeddedFont>
      <p:font typeface="Poppins"/>
      <p:regular r:id="rId21"/>
      <p:bold r:id="rId22"/>
      <p:italic r:id="rId23"/>
      <p:boldItalic r:id="rId24"/>
    </p:embeddedFont>
    <p:embeddedFont>
      <p:font typeface="Poppins ExtraBold"/>
      <p:bold r:id="rId25"/>
      <p:boldItalic r:id="rId26"/>
    </p:embeddedFont>
    <p:embeddedFont>
      <p:font typeface="Inter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572EC8-23B2-4FCA-9AFC-F27C436B348B}">
  <a:tblStyle styleId="{F0572EC8-23B2-4FCA-9AFC-F27C436B348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ExtraBold-boldItalic.fntdata"/><Relationship Id="rId25" Type="http://schemas.openxmlformats.org/officeDocument/2006/relationships/font" Target="fonts/PoppinsExtraBold-bold.fntdata"/><Relationship Id="rId28" Type="http://schemas.openxmlformats.org/officeDocument/2006/relationships/font" Target="fonts/InterMedium-bold.fntdata"/><Relationship Id="rId27" Type="http://schemas.openxmlformats.org/officeDocument/2006/relationships/font" Target="fonts/Inter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Inter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nterSemiBold-regular.fntdata"/><Relationship Id="rId12" Type="http://schemas.openxmlformats.org/officeDocument/2006/relationships/slide" Target="slides/slide6.xml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Inter-regular.fntdata"/><Relationship Id="rId16" Type="http://schemas.openxmlformats.org/officeDocument/2006/relationships/font" Target="fonts/InterSemiBold-boldItalic.fntdata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10" Type="http://schemas.openxmlformats.org/officeDocument/2006/relationships/image" Target="../media/image9.png"/><Relationship Id="rId9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7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1.png"/><Relationship Id="rId13" Type="http://schemas.openxmlformats.org/officeDocument/2006/relationships/image" Target="../media/image53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31.png"/><Relationship Id="rId22" Type="http://schemas.openxmlformats.org/officeDocument/2006/relationships/image" Target="../media/image37.png"/><Relationship Id="rId21" Type="http://schemas.openxmlformats.org/officeDocument/2006/relationships/image" Target="../media/image36.png"/><Relationship Id="rId24" Type="http://schemas.openxmlformats.org/officeDocument/2006/relationships/image" Target="../media/image38.png"/><Relationship Id="rId23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9" Type="http://schemas.openxmlformats.org/officeDocument/2006/relationships/image" Target="../media/image30.png"/><Relationship Id="rId26" Type="http://schemas.openxmlformats.org/officeDocument/2006/relationships/image" Target="../media/image74.png"/><Relationship Id="rId25" Type="http://schemas.openxmlformats.org/officeDocument/2006/relationships/image" Target="../media/image42.png"/><Relationship Id="rId28" Type="http://schemas.openxmlformats.org/officeDocument/2006/relationships/image" Target="../media/image39.png"/><Relationship Id="rId27" Type="http://schemas.openxmlformats.org/officeDocument/2006/relationships/image" Target="../media/image40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29" Type="http://schemas.openxmlformats.org/officeDocument/2006/relationships/image" Target="../media/image49.png"/><Relationship Id="rId7" Type="http://schemas.openxmlformats.org/officeDocument/2006/relationships/image" Target="../media/image24.png"/><Relationship Id="rId8" Type="http://schemas.openxmlformats.org/officeDocument/2006/relationships/image" Target="../media/image20.png"/><Relationship Id="rId31" Type="http://schemas.openxmlformats.org/officeDocument/2006/relationships/image" Target="../media/image43.png"/><Relationship Id="rId30" Type="http://schemas.openxmlformats.org/officeDocument/2006/relationships/image" Target="../media/image41.png"/><Relationship Id="rId11" Type="http://schemas.openxmlformats.org/officeDocument/2006/relationships/image" Target="../media/image27.png"/><Relationship Id="rId33" Type="http://schemas.openxmlformats.org/officeDocument/2006/relationships/image" Target="../media/image47.png"/><Relationship Id="rId10" Type="http://schemas.openxmlformats.org/officeDocument/2006/relationships/image" Target="../media/image22.png"/><Relationship Id="rId32" Type="http://schemas.openxmlformats.org/officeDocument/2006/relationships/image" Target="../media/image44.png"/><Relationship Id="rId13" Type="http://schemas.openxmlformats.org/officeDocument/2006/relationships/image" Target="../media/image28.png"/><Relationship Id="rId35" Type="http://schemas.openxmlformats.org/officeDocument/2006/relationships/image" Target="../media/image51.png"/><Relationship Id="rId12" Type="http://schemas.openxmlformats.org/officeDocument/2006/relationships/image" Target="../media/image23.png"/><Relationship Id="rId34" Type="http://schemas.openxmlformats.org/officeDocument/2006/relationships/image" Target="../media/image46.png"/><Relationship Id="rId15" Type="http://schemas.openxmlformats.org/officeDocument/2006/relationships/image" Target="../media/image29.png"/><Relationship Id="rId37" Type="http://schemas.openxmlformats.org/officeDocument/2006/relationships/image" Target="../media/image52.png"/><Relationship Id="rId14" Type="http://schemas.openxmlformats.org/officeDocument/2006/relationships/image" Target="../media/image26.png"/><Relationship Id="rId36" Type="http://schemas.openxmlformats.org/officeDocument/2006/relationships/image" Target="../media/image48.png"/><Relationship Id="rId17" Type="http://schemas.openxmlformats.org/officeDocument/2006/relationships/image" Target="../media/image34.png"/><Relationship Id="rId16" Type="http://schemas.openxmlformats.org/officeDocument/2006/relationships/image" Target="../media/image35.png"/><Relationship Id="rId38" Type="http://schemas.openxmlformats.org/officeDocument/2006/relationships/image" Target="../media/image50.png"/><Relationship Id="rId19" Type="http://schemas.openxmlformats.org/officeDocument/2006/relationships/image" Target="../media/image32.png"/><Relationship Id="rId18" Type="http://schemas.openxmlformats.org/officeDocument/2006/relationships/image" Target="../media/image3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6.png"/><Relationship Id="rId9" Type="http://schemas.openxmlformats.org/officeDocument/2006/relationships/image" Target="../media/image59.png"/><Relationship Id="rId5" Type="http://schemas.openxmlformats.org/officeDocument/2006/relationships/image" Target="../media/image55.png"/><Relationship Id="rId6" Type="http://schemas.openxmlformats.org/officeDocument/2006/relationships/image" Target="../media/image54.png"/><Relationship Id="rId7" Type="http://schemas.openxmlformats.org/officeDocument/2006/relationships/image" Target="../media/image58.png"/><Relationship Id="rId8" Type="http://schemas.openxmlformats.org/officeDocument/2006/relationships/image" Target="../media/image76.png"/><Relationship Id="rId11" Type="http://schemas.openxmlformats.org/officeDocument/2006/relationships/image" Target="../media/image57.png"/><Relationship Id="rId10" Type="http://schemas.openxmlformats.org/officeDocument/2006/relationships/image" Target="../media/image65.png"/><Relationship Id="rId12" Type="http://schemas.openxmlformats.org/officeDocument/2006/relationships/image" Target="../media/image6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61.png"/><Relationship Id="rId9" Type="http://schemas.openxmlformats.org/officeDocument/2006/relationships/image" Target="../media/image64.png"/><Relationship Id="rId5" Type="http://schemas.openxmlformats.org/officeDocument/2006/relationships/image" Target="../media/image63.png"/><Relationship Id="rId6" Type="http://schemas.openxmlformats.org/officeDocument/2006/relationships/image" Target="../media/image62.png"/><Relationship Id="rId7" Type="http://schemas.openxmlformats.org/officeDocument/2006/relationships/image" Target="../media/image66.png"/><Relationship Id="rId8" Type="http://schemas.openxmlformats.org/officeDocument/2006/relationships/image" Target="../media/image70.png"/><Relationship Id="rId11" Type="http://schemas.openxmlformats.org/officeDocument/2006/relationships/image" Target="../media/image72.png"/><Relationship Id="rId10" Type="http://schemas.openxmlformats.org/officeDocument/2006/relationships/image" Target="../media/image69.png"/><Relationship Id="rId13" Type="http://schemas.openxmlformats.org/officeDocument/2006/relationships/image" Target="../media/image73.png"/><Relationship Id="rId12" Type="http://schemas.openxmlformats.org/officeDocument/2006/relationships/image" Target="../media/image71.png"/><Relationship Id="rId15" Type="http://schemas.openxmlformats.org/officeDocument/2006/relationships/image" Target="../media/image60.png"/><Relationship Id="rId14" Type="http://schemas.openxmlformats.org/officeDocument/2006/relationships/image" Target="../media/image6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8512" y="4849117"/>
            <a:ext cx="151447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95862" y="4849117"/>
            <a:ext cx="19240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62787" y="4849117"/>
            <a:ext cx="17907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4375" y="542925"/>
            <a:ext cx="666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15625" y="523875"/>
            <a:ext cx="762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4157662" y="2694682"/>
            <a:ext cx="38766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DB121A"/>
                </a:solidFill>
                <a:latin typeface="Inter"/>
                <a:ea typeface="Inter"/>
                <a:cs typeface="Inter"/>
                <a:sym typeface="Inter"/>
              </a:rPr>
              <a:t>HSBC × BAIF HACKATHON DELIVERABLE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4413289" y="2999482"/>
            <a:ext cx="336542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002D62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अनुवादिनी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286000" y="3944242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Breaking language barriers in rural India. A comprehensive, offline localization engine translating text, audio, and video manuals instantly.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3" name="Google Shape;93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95887" y="4968180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62812" y="4968180"/>
            <a:ext cx="95250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42190" y="381000"/>
            <a:ext cx="1335434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2057846"/>
            <a:ext cx="4943921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9296" y="2057846"/>
            <a:ext cx="5438328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/>
          <p:nvPr/>
        </p:nvSpPr>
        <p:spPr>
          <a:xfrm>
            <a:off x="10266015" y="457200"/>
            <a:ext cx="57150" cy="57150"/>
          </a:xfrm>
          <a:prstGeom prst="roundRect">
            <a:avLst>
              <a:gd fmla="val 50000" name="adj"/>
            </a:avLst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295400" y="2353121"/>
            <a:ext cx="406762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DB121A"/>
                </a:solidFill>
                <a:latin typeface="Inter"/>
                <a:ea typeface="Inter"/>
                <a:cs typeface="Inter"/>
                <a:sym typeface="Inter"/>
              </a:rPr>
              <a:t>The Rural Reality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620321" y="2353121"/>
            <a:ext cx="45620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2D62"/>
                </a:solidFill>
                <a:latin typeface="Inter"/>
                <a:ea typeface="Inter"/>
                <a:cs typeface="Inter"/>
                <a:sym typeface="Inter"/>
              </a:rPr>
              <a:t>What BAIF Needed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2372171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276350" y="2772221"/>
            <a:ext cx="408667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Network Disconnection: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Internet is highly unreliable or non-existent in active sub-districts and field schools.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276350" y="3286571"/>
            <a:ext cx="408667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Restrictive API Overhead: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Standard cloud API models (OpenAI, DeepL) incur compounding transaction and subscription fees.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1276350" y="3800921"/>
            <a:ext cx="4086671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Tool Fragmentation: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Translating a complete instruction kit currently requires disjointed software for transcription, synthesis, and subtitling.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1276350" y="4515296"/>
            <a:ext cx="4086671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Corporate Data Exposure: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Proprietary instructional intellectual property is leaked outside of client environments when sent to third-party translation servers.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571" y="2372171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6601271" y="2772221"/>
            <a:ext cx="458107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100% Offline execution: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Zero active external internet ping needed during runtime.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6601271" y="3286571"/>
            <a:ext cx="458107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Multi-format Support: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Text transcription, Voiceovers, and Embedded Subtitles within a single application.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601271" y="3800921"/>
            <a:ext cx="458107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Intel CPU Optimization: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Capable of performing local ASR and NMT models on existing BAIF single-core computers.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6601271" y="4315271"/>
            <a:ext cx="458107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Regional Preservation: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Specialized grammatical models tuned to natural conversational Hindi and Marathi dialects.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6" name="Google Shape;11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9650" y="279127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9650" y="330562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9650" y="381997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9650" y="453434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34571" y="279127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34571" y="330562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34571" y="381997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34571" y="4334321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 txBox="1"/>
          <p:nvPr/>
        </p:nvSpPr>
        <p:spPr>
          <a:xfrm>
            <a:off x="857250" y="523875"/>
            <a:ext cx="11151393" cy="372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THE FIELD CHALLENGE VS BAIF NEEDS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714375" y="523875"/>
            <a:ext cx="57150" cy="372367"/>
          </a:xfrm>
          <a:prstGeom prst="rect">
            <a:avLst/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16455" y="381000"/>
            <a:ext cx="1261169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4908053"/>
            <a:ext cx="10763250" cy="1426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10100" y="5506789"/>
            <a:ext cx="12573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10275" y="5506789"/>
            <a:ext cx="1000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53275" y="5506789"/>
            <a:ext cx="10382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34375" y="5506789"/>
            <a:ext cx="8572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34500" y="5506789"/>
            <a:ext cx="8191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296525" y="5506789"/>
            <a:ext cx="8953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2500" y="1963042"/>
            <a:ext cx="2959000" cy="653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52500" y="2730698"/>
            <a:ext cx="2959000" cy="7895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16350" y="1963042"/>
            <a:ext cx="2959149" cy="7895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616350" y="2866876"/>
            <a:ext cx="2959149" cy="653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280350" y="1963042"/>
            <a:ext cx="2959000" cy="653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280350" y="2730698"/>
            <a:ext cx="2959000" cy="653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14375" y="1134367"/>
            <a:ext cx="3435250" cy="3535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378225" y="1134367"/>
            <a:ext cx="3435399" cy="3535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042225" y="1134367"/>
            <a:ext cx="3435250" cy="353556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/>
          <p:nvPr/>
        </p:nvSpPr>
        <p:spPr>
          <a:xfrm>
            <a:off x="10340280" y="457200"/>
            <a:ext cx="57150" cy="57150"/>
          </a:xfrm>
          <a:prstGeom prst="roundRect">
            <a:avLst>
              <a:gd fmla="val 50000" name="adj"/>
            </a:avLst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1000125" y="5544889"/>
            <a:ext cx="3143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CORE OPEN-SOURCE ARCHITECTURE 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0" name="Google Shape;150;p1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52500" y="1410592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1466850" y="1486792"/>
            <a:ext cx="147018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 Data Ingestion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2" name="Google Shape;152;p1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616350" y="1410592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 txBox="1"/>
          <p:nvPr/>
        </p:nvSpPr>
        <p:spPr>
          <a:xfrm>
            <a:off x="5130700" y="1486792"/>
            <a:ext cx="164020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 Core Processing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4" name="Google Shape;154;p1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280350" y="1410592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 txBox="1"/>
          <p:nvPr/>
        </p:nvSpPr>
        <p:spPr>
          <a:xfrm>
            <a:off x="8794700" y="1486792"/>
            <a:ext cx="195024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3. Synthesis &amp;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6" name="Google Shape;156;p1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733925" y="5566320"/>
            <a:ext cx="114300" cy="109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134100" y="5566320"/>
            <a:ext cx="133350" cy="109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7277100" y="5566320"/>
            <a:ext cx="133350" cy="109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5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8458200" y="5566320"/>
            <a:ext cx="123825" cy="109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5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9458325" y="5566320"/>
            <a:ext cx="114300" cy="109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5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0420350" y="5566320"/>
            <a:ext cx="114300" cy="109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5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1057275" y="151536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5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1095375" y="2086867"/>
            <a:ext cx="106412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5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1095375" y="2854523"/>
            <a:ext cx="90933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5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4697313" y="1515367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5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4759225" y="2086867"/>
            <a:ext cx="87213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5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4759225" y="2990701"/>
            <a:ext cx="92868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5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8394650" y="151536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5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8423225" y="2086867"/>
            <a:ext cx="102393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5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8423225" y="2854523"/>
            <a:ext cx="97482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5"/>
          <p:cNvSpPr txBox="1"/>
          <p:nvPr/>
        </p:nvSpPr>
        <p:spPr>
          <a:xfrm>
            <a:off x="1297037" y="2067817"/>
            <a:ext cx="25951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Unified File Intake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1297037" y="2239267"/>
            <a:ext cx="2471588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Accepts .mp4, .mov, .mp3, .wav, and .txt files up to 2 GB via Streamlit frontend.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1281558" y="2835473"/>
            <a:ext cx="26114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Demultiplexing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1281558" y="3006923"/>
            <a:ext cx="2487066" cy="408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Utilizes bundled local FFmpeg bin tools to extract and normalize audio frequencies instantly.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4941689" y="2067817"/>
            <a:ext cx="261548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Speech Recog. &amp; LID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4941689" y="2239267"/>
            <a:ext cx="2490936" cy="408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Faster-Whisper processes waves on a local thread loop, executing automatic language detection.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4947344" y="2971651"/>
            <a:ext cx="26095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NMT Translation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4947344" y="3143101"/>
            <a:ext cx="2485280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NLLB-200 translates complete transcription context, preventing paragraph fragment errors.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8620869" y="2067817"/>
            <a:ext cx="25993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Vocal Overlays &amp; SRT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8620869" y="2239267"/>
            <a:ext cx="2475607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eSpeak NG generates dialect voice tracks while ASS engine aligns scaled subtitles.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8615957" y="2835473"/>
            <a:ext cx="26045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Multiplexed 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8615957" y="3006923"/>
            <a:ext cx="2480518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Composited ASS font scripts and voices are embedded into a final output via FFmpeg.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2867025" y="2883098"/>
            <a:ext cx="6457950" cy="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 txBox="1"/>
          <p:nvPr/>
        </p:nvSpPr>
        <p:spPr>
          <a:xfrm>
            <a:off x="857250" y="523875"/>
            <a:ext cx="11151393" cy="372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SOLUTION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714375" y="523875"/>
            <a:ext cx="57150" cy="372367"/>
          </a:xfrm>
          <a:prstGeom prst="rect">
            <a:avLst/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65965" y="381000"/>
            <a:ext cx="1611659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1977032"/>
            <a:ext cx="10763250" cy="351427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6"/>
          <p:cNvSpPr/>
          <p:nvPr/>
        </p:nvSpPr>
        <p:spPr>
          <a:xfrm>
            <a:off x="9989790" y="457200"/>
            <a:ext cx="57150" cy="57150"/>
          </a:xfrm>
          <a:prstGeom prst="roundRect">
            <a:avLst>
              <a:gd fmla="val 50000" name="adj"/>
            </a:avLst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4" name="Google Shape;194;p16"/>
          <p:cNvGraphicFramePr/>
          <p:nvPr/>
        </p:nvGraphicFramePr>
        <p:xfrm>
          <a:off x="723900" y="19865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{F0572EC8-23B2-4FCA-9AFC-F27C436B348B}</a:tableStyleId>
              </a:tblPr>
              <a:tblGrid>
                <a:gridCol w="2686050"/>
                <a:gridCol w="8058150"/>
              </a:tblGrid>
              <a:tr h="43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12"/>
                        <a:buFont typeface="Arial"/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Evaluation Pillar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12"/>
                        <a:buFont typeface="Arial"/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Our Implementation Strength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</a:tr>
              <a:tr h="43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🌍 Impact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Enables critical, direct, and multi-dialect educational manuals to easily reach rural Hindi- and Marathi-speaking communities.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📈 Scalability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Modular FastAPI core prepared to integrate cluster chunking, batch operations, and future GPU queue support without changing processing services.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3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🏭 Readiness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Handles automated CPU safety fallback, large files up to 2 GB, and cross-format processing (MP4, MKV, MP3, WAV, AAC, and TXT).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🎨 Usability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Clean, drag-and-drop Streamlit UI. Offers instantaneous translation preview panels, dynamic subtitle track editing, and single-click outputs.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3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🔒 Safety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 offline local processing. Absolutely zero user inputs, transcripts, or field manuals leave your local corporate networks.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🤝 Inclusivity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Ensures robust accessibility through both visual (dynamic subtitles) and physical (AI audio overlays) regional language generation.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3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💰 Zero Cost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Built strictly upon open-source model weights. Completely free of perpetual licensing overhead or recurring cloud subscription bills.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16"/>
          <p:cNvSpPr/>
          <p:nvPr/>
        </p:nvSpPr>
        <p:spPr>
          <a:xfrm>
            <a:off x="723900" y="2757041"/>
            <a:ext cx="2686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3409950" y="2757041"/>
            <a:ext cx="8058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723900" y="3309491"/>
            <a:ext cx="2686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3409950" y="3309491"/>
            <a:ext cx="8058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723900" y="3713261"/>
            <a:ext cx="2686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3409950" y="3713261"/>
            <a:ext cx="8058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723900" y="4265711"/>
            <a:ext cx="2686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/>
          <p:nvPr/>
        </p:nvSpPr>
        <p:spPr>
          <a:xfrm>
            <a:off x="3409950" y="4265711"/>
            <a:ext cx="8058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723900" y="4669482"/>
            <a:ext cx="2686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3409950" y="4669482"/>
            <a:ext cx="8058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723900" y="5073253"/>
            <a:ext cx="2686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3409950" y="5073253"/>
            <a:ext cx="8058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7" name="Google Shape;20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472332"/>
            <a:ext cx="752475" cy="18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950368"/>
            <a:ext cx="1028700" cy="18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3428553"/>
            <a:ext cx="942975" cy="18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400" y="3906589"/>
            <a:ext cx="895350" cy="18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4400" y="4384774"/>
            <a:ext cx="762000" cy="18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14400" y="4788544"/>
            <a:ext cx="1009650" cy="18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14400" y="5192315"/>
            <a:ext cx="942975" cy="18469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/>
        </p:nvSpPr>
        <p:spPr>
          <a:xfrm>
            <a:off x="857250" y="523875"/>
            <a:ext cx="11151393" cy="372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HOW अनुवादिनी MEETS HACKATHON PILLARS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714375" y="523875"/>
            <a:ext cx="57150" cy="372367"/>
          </a:xfrm>
          <a:prstGeom prst="rect">
            <a:avLst/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18390" y="381000"/>
            <a:ext cx="1259234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2696021"/>
            <a:ext cx="566291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58285" y="1924496"/>
            <a:ext cx="4719339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7810" y="1934021"/>
            <a:ext cx="4700289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7810" y="2324546"/>
            <a:ext cx="4700289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38976" y="2029271"/>
            <a:ext cx="3076723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58310" y="2515046"/>
            <a:ext cx="4319289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958310" y="4086671"/>
            <a:ext cx="4319289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053560" y="3553271"/>
            <a:ext cx="4128789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7"/>
          <p:cNvSpPr/>
          <p:nvPr/>
        </p:nvSpPr>
        <p:spPr>
          <a:xfrm>
            <a:off x="10342215" y="457200"/>
            <a:ext cx="57150" cy="57150"/>
          </a:xfrm>
          <a:prstGeom prst="roundRect">
            <a:avLst>
              <a:gd fmla="val 50000" name="adj"/>
            </a:avLst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 txBox="1"/>
          <p:nvPr/>
        </p:nvSpPr>
        <p:spPr>
          <a:xfrm>
            <a:off x="1190625" y="2943671"/>
            <a:ext cx="2298055" cy="178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Full-Context Translation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7"/>
          <p:cNvSpPr txBox="1"/>
          <p:nvPr/>
        </p:nvSpPr>
        <p:spPr>
          <a:xfrm>
            <a:off x="3831580" y="2943671"/>
            <a:ext cx="2298055" cy="178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Subtitle Speed Sync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7"/>
          <p:cNvSpPr txBox="1"/>
          <p:nvPr/>
        </p:nvSpPr>
        <p:spPr>
          <a:xfrm>
            <a:off x="1190625" y="3236565"/>
            <a:ext cx="2298055" cy="178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ASS Subtitle 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7"/>
          <p:cNvSpPr txBox="1"/>
          <p:nvPr/>
        </p:nvSpPr>
        <p:spPr>
          <a:xfrm>
            <a:off x="3831580" y="3236565"/>
            <a:ext cx="2298055" cy="178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Venv Portability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7"/>
          <p:cNvSpPr txBox="1"/>
          <p:nvPr/>
        </p:nvSpPr>
        <p:spPr>
          <a:xfrm>
            <a:off x="1190625" y="3529458"/>
            <a:ext cx="2298055" cy="178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Devnagari Font Bundling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7"/>
          <p:cNvSpPr txBox="1"/>
          <p:nvPr/>
        </p:nvSpPr>
        <p:spPr>
          <a:xfrm>
            <a:off x="3831580" y="3529458"/>
            <a:ext cx="2298055" cy="178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 GB Streamlit Limit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7"/>
          <p:cNvSpPr txBox="1"/>
          <p:nvPr/>
        </p:nvSpPr>
        <p:spPr>
          <a:xfrm>
            <a:off x="1143000" y="3946177"/>
            <a:ext cx="4986635" cy="578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1" lang="en-US" sz="1012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"अनुवादिनी transforms multilingual educational content into accessible, localized, and practical knowledge—anytime, anywhere, completely independent of the internet."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6920210" y="2067371"/>
            <a:ext cx="10001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02D62"/>
                </a:solidFill>
                <a:latin typeface="Inter"/>
                <a:ea typeface="Inter"/>
                <a:cs typeface="Inter"/>
                <a:sym typeface="Inter"/>
              </a:rPr>
              <a:t>Translation Viewer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9" name="Google Shape;239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920210" y="2076896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958310" y="2515046"/>
            <a:ext cx="4319289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7"/>
          <p:cNvSpPr txBox="1"/>
          <p:nvPr/>
        </p:nvSpPr>
        <p:spPr>
          <a:xfrm>
            <a:off x="7082135" y="4220021"/>
            <a:ext cx="16954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02D62"/>
                </a:solidFill>
                <a:latin typeface="Inter"/>
                <a:ea typeface="Inter"/>
                <a:cs typeface="Inter"/>
                <a:sym typeface="Inter"/>
              </a:rPr>
              <a:t>eSpeak Synthesis Overlay (Marathi)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2" name="Google Shape;242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62025" y="2961530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602980" y="2961530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62025" y="3254424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602980" y="3254424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62025" y="3547318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602980" y="3547318"/>
            <a:ext cx="1333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7"/>
          <p:cNvSpPr/>
          <p:nvPr/>
        </p:nvSpPr>
        <p:spPr>
          <a:xfrm>
            <a:off x="10887075" y="4229546"/>
            <a:ext cx="28575" cy="95250"/>
          </a:xfrm>
          <a:prstGeom prst="roundRect">
            <a:avLst>
              <a:gd fmla="val 50000" name="adj"/>
            </a:avLst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10934700" y="4191446"/>
            <a:ext cx="28575" cy="171450"/>
          </a:xfrm>
          <a:prstGeom prst="roundRect">
            <a:avLst>
              <a:gd fmla="val 50000" name="adj"/>
            </a:avLst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10982325" y="4158108"/>
            <a:ext cx="28575" cy="238125"/>
          </a:xfrm>
          <a:prstGeom prst="roundRect">
            <a:avLst>
              <a:gd fmla="val 50000" name="adj"/>
            </a:avLst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7"/>
          <p:cNvSpPr/>
          <p:nvPr/>
        </p:nvSpPr>
        <p:spPr>
          <a:xfrm>
            <a:off x="11029950" y="4205733"/>
            <a:ext cx="28575" cy="142875"/>
          </a:xfrm>
          <a:prstGeom prst="roundRect">
            <a:avLst>
              <a:gd fmla="val 50000" name="adj"/>
            </a:avLst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11077575" y="4172396"/>
            <a:ext cx="28575" cy="209550"/>
          </a:xfrm>
          <a:prstGeom prst="roundRect">
            <a:avLst>
              <a:gd fmla="val 50000" name="adj"/>
            </a:avLst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11125200" y="4239071"/>
            <a:ext cx="28575" cy="76200"/>
          </a:xfrm>
          <a:prstGeom prst="roundRect">
            <a:avLst>
              <a:gd fmla="val 50000" name="adj"/>
            </a:avLst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>
            <a:off x="857250" y="523875"/>
            <a:ext cx="11151393" cy="372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CORE TECHNICAL EDGE &amp; LIVE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714375" y="523875"/>
            <a:ext cx="57150" cy="372367"/>
          </a:xfrm>
          <a:prstGeom prst="rect">
            <a:avLst/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349612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8"/>
          <p:cNvSpPr txBox="1"/>
          <p:nvPr/>
        </p:nvSpPr>
        <p:spPr>
          <a:xfrm>
            <a:off x="1809750" y="3503265"/>
            <a:ext cx="9667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https://images.splitshire.com/full/Ramu-the-Farmer:-A-Kid-Friendly-Animated-Village-Morning_Prre3.png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8"/>
          <p:cNvSpPr txBox="1"/>
          <p:nvPr/>
        </p:nvSpPr>
        <p:spPr>
          <a:xfrm>
            <a:off x="1809750" y="3736627"/>
            <a:ext cx="9667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www.splitshire.com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8"/>
          <p:cNvSpPr txBox="1"/>
          <p:nvPr/>
        </p:nvSpPr>
        <p:spPr>
          <a:xfrm>
            <a:off x="857250" y="523875"/>
            <a:ext cx="11151393" cy="372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714375" y="523875"/>
            <a:ext cx="57150" cy="372367"/>
          </a:xfrm>
          <a:prstGeom prst="rect">
            <a:avLst/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